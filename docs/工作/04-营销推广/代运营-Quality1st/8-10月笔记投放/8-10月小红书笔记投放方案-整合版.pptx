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6"/>
    <p:sldId id="271" r:id="rId5"/>
    <p:sldId id="258" r:id="rId7"/>
    <p:sldId id="259" r:id="rId8"/>
    <p:sldId id="260" r:id="rId9"/>
    <p:sldId id="261" r:id="rId10"/>
    <p:sldId id="262" r:id="rId11"/>
    <p:sldId id="273" r:id="rId21"/>
    <p:sldId id="269" r:id="rId12"/>
    <p:sldId id="270" r:id="rId13"/>
    <p:sldId id="272" r:id="rId14"/>
    <p:sldId id="263" r:id="rId15"/>
    <p:sldId id="265" r:id="rId16"/>
    <p:sldId id="266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  <Relationship Id="rId21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023360" cy="4023360"/>
          </a:xfrm>
          <a:prstGeom prst="ellipse">
            <a:avLst/>
          </a:prstGeom>
          <a:solidFill>
            <a:srgbClr val="990011"/>
          </a:solidFill>
        </p:spPr>
      </p:sp>
      <p:sp>
        <p:nvSpPr>
          <p:cNvPr id="3" name="Text 1"/>
          <p:cNvSpPr/>
          <p:nvPr/>
        </p:nvSpPr>
        <p:spPr>
          <a:xfrm>
            <a:off x="640080" y="2194560"/>
            <a:ext cx="10058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8–10月 小红书笔记投放方案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58368" y="315468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9A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为双11蓄水 · 基于真实数据的六维策略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384048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625475" y="1052830"/>
          <a:ext cx="11238865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505"/>
                <a:gridCol w="2738120"/>
                <a:gridCol w="2738120"/>
                <a:gridCol w="2738120"/>
              </a:tblGrid>
              <a:tr h="1310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red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2026</a:t>
                      </a:r>
                      <a:r>
                        <a:rPr lang="zh-CN" altLang="en-US" sz="2400" b="0">
                          <a:latin typeface="Calibri"/>
                          <a:ea typeface="Calibri"/>
                        </a:rPr>
                        <a:t>年</a:t>
                      </a:r>
                      <a:r>
                        <a:rPr lang="en-US" altLang="zh-CN" sz="2400" b="0">
                          <a:latin typeface="Calibri"/>
                          <a:ea typeface="Calibri"/>
                        </a:rPr>
                        <a:t>8</a:t>
                      </a:r>
                      <a:r>
                        <a:rPr lang="zh-CN" altLang="en-US" sz="2400" b="0">
                          <a:latin typeface="Calibri"/>
                          <a:ea typeface="Calibri"/>
                        </a:rPr>
                        <a:t>月</a:t>
                      </a:r>
                      <a:endParaRPr lang="zh-CN" altLang="en-US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2026</a:t>
                      </a:r>
                      <a:r>
                        <a:rPr lang="zh-CN" altLang="en-US" sz="2400" b="0">
                          <a:latin typeface="Calibri"/>
                          <a:ea typeface="Calibri"/>
                        </a:rPr>
                        <a:t>年</a:t>
                      </a:r>
                      <a:r>
                        <a:rPr lang="en-US" altLang="zh-CN" sz="2400" b="0">
                          <a:latin typeface="Calibri"/>
                          <a:ea typeface="Calibri"/>
                        </a:rPr>
                        <a:t>9</a:t>
                      </a:r>
                      <a:r>
                        <a:rPr lang="zh-CN" altLang="en-US" sz="2400" b="0">
                          <a:latin typeface="Calibri"/>
                          <a:ea typeface="Calibri"/>
                        </a:rPr>
                        <a:t>月</a:t>
                      </a:r>
                      <a:endParaRPr lang="zh-CN" altLang="en-US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2026</a:t>
                      </a:r>
                      <a:r>
                        <a:rPr lang="zh-CN" altLang="en-US" sz="2400" b="0">
                          <a:latin typeface="Calibri"/>
                          <a:ea typeface="Calibri"/>
                        </a:rPr>
                        <a:t>年</a:t>
                      </a:r>
                      <a:r>
                        <a:rPr lang="en-US" altLang="zh-CN" sz="2400" b="0">
                          <a:latin typeface="Calibri"/>
                          <a:ea typeface="Calibri"/>
                        </a:rPr>
                        <a:t>10</a:t>
                      </a:r>
                      <a:r>
                        <a:rPr lang="zh-CN" altLang="en-US" sz="2400" b="0">
                          <a:latin typeface="Calibri"/>
                          <a:ea typeface="Calibri"/>
                        </a:rPr>
                        <a:t>月</a:t>
                      </a:r>
                      <a:endParaRPr lang="zh-CN" altLang="en-US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</a:tr>
              <a:tr h="1310640">
                <a:tc>
                  <a:txBody>
                    <a:bodyPr/>
                    <a:p>
                      <a:pPr algn="ctr" fontAlgn="b"/>
                      <a:r>
                        <a:rPr lang="zh-CN" altLang="en-US" sz="2400" b="0">
                          <a:latin typeface="Calibri"/>
                          <a:ea typeface="Calibri"/>
                        </a:rPr>
                        <a:t>站外种草营销（</a:t>
                      </a:r>
                      <a:r>
                        <a:rPr lang="en-US" altLang="zh-CN" sz="2400" b="0">
                          <a:latin typeface="Calibri"/>
                          <a:ea typeface="Calibri"/>
                        </a:rPr>
                        <a:t>Red</a:t>
                      </a:r>
                      <a:r>
                        <a:rPr lang="zh-CN" altLang="en-US" sz="2400" b="0">
                          <a:latin typeface="Calibri"/>
                          <a:ea typeface="Calibri"/>
                        </a:rPr>
                        <a:t>种草）</a:t>
                      </a:r>
                      <a:endParaRPr lang="zh-CN" altLang="en-US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¥3,200,000</a:t>
                      </a:r>
                      <a:endParaRPr lang="en-US" altLang="zh-CN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¥3,500,000</a:t>
                      </a:r>
                      <a:endParaRPr lang="en-US" altLang="zh-CN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¥2,000,000</a:t>
                      </a:r>
                      <a:endParaRPr lang="en-US" altLang="zh-CN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</a:tr>
              <a:tr h="1310640">
                <a:tc>
                  <a:txBody>
                    <a:bodyPr/>
                    <a:p>
                      <a:pPr algn="ctr" fontAlgn="b"/>
                      <a:r>
                        <a:rPr lang="zh-CN" altLang="en-US" sz="2400" b="0">
                          <a:latin typeface="Calibri"/>
                          <a:ea typeface="Calibri"/>
                        </a:rPr>
                        <a:t>销售额</a:t>
                      </a:r>
                      <a:endParaRPr lang="zh-CN" altLang="en-US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¥700,000</a:t>
                      </a:r>
                      <a:endParaRPr lang="en-US" altLang="zh-CN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¥1,000,000</a:t>
                      </a:r>
                      <a:endParaRPr lang="en-US" altLang="zh-CN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¥1,200,000</a:t>
                      </a:r>
                      <a:endParaRPr lang="en-US" altLang="zh-CN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</a:tr>
              <a:tr h="1310640">
                <a:tc>
                  <a:txBody>
                    <a:bodyPr/>
                    <a:p>
                      <a:pPr algn="ctr" fontAlgn="b"/>
                      <a:r>
                        <a:rPr lang="zh-CN" altLang="en-US" sz="2400" b="0">
                          <a:latin typeface="Calibri"/>
                          <a:ea typeface="Calibri"/>
                        </a:rPr>
                        <a:t>广告费</a:t>
                      </a:r>
                      <a:endParaRPr lang="zh-CN" altLang="en-US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¥350,000</a:t>
                      </a:r>
                      <a:endParaRPr lang="en-US" altLang="zh-CN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¥500,000</a:t>
                      </a:r>
                      <a:endParaRPr lang="en-US" altLang="zh-CN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2400" b="0">
                          <a:latin typeface="Calibri"/>
                          <a:ea typeface="Calibri"/>
                        </a:rPr>
                        <a:t>¥600,000</a:t>
                      </a:r>
                      <a:endParaRPr lang="en-US" altLang="zh-CN" sz="2400" b="0">
                        <a:latin typeface="Calibri"/>
                        <a:ea typeface="Calibri"/>
                      </a:endParaRPr>
                    </a:p>
                  </a:txBody>
                  <a:tcPr marL="38417" marR="38417" marT="25717" marB="25717" anchor="ctr" anchorCtr="0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25475" y="340360"/>
            <a:ext cx="4064000" cy="3683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QUALITY1st--</a:t>
            </a:r>
            <a:r>
              <a:rPr lang="zh-CN" altLang="en-US"/>
              <a:t>小红书销售額拆解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执行摘要</a:t>
            </a:r>
            <a:endParaRPr lang="en-US" sz="24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457200" y="105156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≤36万</a:t>
            </a:r>
            <a:endParaRPr lang="en-US" sz="30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日元·3个月总盘</a:t>
            </a:r>
            <a:endParaRPr lang="en-US" sz="12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3337560" y="105156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~15万</a:t>
            </a:r>
            <a:endParaRPr lang="en-US" sz="30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3337560" y="1691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笔记种草(约45篇)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217920" y="105156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~21万</a:t>
            </a:r>
            <a:endParaRPr lang="en-US" sz="30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直播/笔直(预留)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9098280" y="136779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6710" y="2468880"/>
            <a:ext cx="11357610" cy="37242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人群：</a:t>
            </a:r>
            <a:r>
              <a:rPr lang="en-US" sz="2400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女性90%+、25–49主力、高消费(L5+L4=71%)、一二线；小红书已购偏资深中产女性/家庭主妇。
</a:t>
            </a:r>
            <a:r>
              <a:rPr lang="en-US" sz="24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竞品：</a:t>
            </a:r>
            <a:r>
              <a:rPr lang="en-US" sz="2400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lululun占「平价·补水·药妆店」，靠国内博主+多图选购攻略吃搜索(攻略均互动1520≈6倍)。
</a:t>
            </a:r>
            <a:r>
              <a:rPr lang="en-US" sz="24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打法：</a:t>
            </a:r>
            <a:r>
              <a:rPr lang="en-US" sz="2400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我们差异化打「高浓度VC精华·提亮·毛孔·进阶功效」，KOC铺量+腰部攻略+头部造势，为双11蓄水。
</a:t>
            </a:r>
            <a:r>
              <a:rPr lang="en-US" sz="24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合规：</a:t>
            </a:r>
            <a:r>
              <a:rPr lang="en-US" sz="2400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功效词分✅/⚠️/❌三档，禁美白/去黄/淡痘印/院线级/极限词与站外硬导流。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文本框 27"/>
          <p:cNvSpPr txBox="1"/>
          <p:nvPr/>
        </p:nvSpPr>
        <p:spPr>
          <a:xfrm>
            <a:off x="8014335" y="58102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约42万的"直播/笔直"预算中含部分站外种草费用。原因是部分主播为"笔直"合作模式（笔记种草与直播打包），故将其站外种草预算一并计入直播坑位，避免重复统计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人群画像 · 真实后台数据</a:t>
            </a:r>
            <a:endParaRPr lang="en-US" sz="2400" dirty="0"/>
          </a:p>
        </p:txBody>
      </p:sp>
      <p:pic>
        <p:nvPicPr>
          <p:cNvPr id="3" name="Image 0" descr="/home/user/-/docs/工作/04-营销推广/代运营-Quality1st/8-10月笔记投放/03-人群画像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11548872" cy="525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测人群 · 4组种子人群-</a:t>
            </a:r>
            <a:r>
              <a:rPr lang="zh-CN" alt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（笔记</a:t>
            </a:r>
            <a:r>
              <a:rPr lang="zh-CN" alt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给谁看）</a:t>
            </a:r>
            <a:endParaRPr lang="zh-CN" altLang="en-US" sz="2400" b="1" dirty="0">
              <a:solidFill>
                <a:srgbClr val="23272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508760"/>
          <a:ext cx="11247120" cy="366776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  <a:gridCol w="3108960"/>
                <a:gridCol w="3108960"/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优先级</a:t>
                      </a:r>
                      <a:endParaRPr lang="en-US" sz="17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种子人群</a:t>
                      </a:r>
                      <a:endParaRPr lang="en-US" sz="17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数据依据</a:t>
                      </a:r>
                      <a:endParaRPr lang="en-US" sz="17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内容/卖点方向</a:t>
                      </a:r>
                      <a:endParaRPr lang="en-US" sz="17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741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25–34 都市职场女性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天猫年龄主力·高L5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提亮/补水/熬夜急救/妆前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35–49 资深中产·家庭主妇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小红书已购主力·天猫30–49高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品质护理/维稳/抗初老感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P2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成分党·高学历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本科及以上 81%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成分(VC/烟酰胺)/测评/对比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P3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学生·年轻党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天猫学生 11%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平价日常补水(看定价)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投放：P1两组重点先跑数据；P2成分党贯穿；P3看定价再决定。</a:t>
            </a:r>
            <a:endParaRPr lang="en-US" sz="1400" dirty="0"/>
          </a:p>
        </p:txBody>
      </p:sp>
      <p:sp>
        <p:nvSpPr>
          <p:cNvPr id="3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竞品 lululun · </a:t>
            </a:r>
            <a:r>
              <a:rPr lang="zh-CN" alt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参考小红书</a:t>
            </a: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样本87篇</a:t>
            </a:r>
            <a:endParaRPr lang="en-US" sz="2400" dirty="0"/>
          </a:p>
        </p:txBody>
      </p:sp>
      <p:pic>
        <p:nvPicPr>
          <p:cNvPr id="3" name="Image 0" descr="/home/user/-/docs/工作/04-营销推广/代运营-Quality1st/8-10月笔记投放/01-lululun打法规律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97280"/>
            <a:ext cx="1005840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选购攻略=爆文引擎(均互动1520≈6倍) · 7张+多图碾压(895vs22) · 视频洼地(824&gt;241) · 声量在国内博主(312vs77)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lululun · 关键词与爆文</a:t>
            </a:r>
            <a:endParaRPr lang="en-US" sz="2400" dirty="0"/>
          </a:p>
        </p:txBody>
      </p:sp>
      <p:pic>
        <p:nvPicPr>
          <p:cNvPr id="3" name="Image 0" descr="/home/user/-/docs/工作/04-营销推广/代运营-Quality1st/8-10月笔记投放/04-lululun话题词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7315200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爆文 Top5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046720" y="1508760"/>
          <a:ext cx="3657600" cy="301752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82296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#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标题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互动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日本药妆店平价面膜怎么选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6745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爆买8w｜平价面膜(视频)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3145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不同肤质怎么选lululun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2382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回购N次平价面膜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2064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这个店才是最便宜的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1264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674495" y="4900295"/>
            <a:ext cx="67094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启示：功效词重「补水保湿」→ 我们切「提亮/毛孔」；</a:t>
            </a:r>
            <a:br>
              <a:rPr lang="en-US" sz="16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</a:br>
            <a:r>
              <a:rPr lang="en-US" sz="16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长尾</a:t>
            </a:r>
            <a:r>
              <a:rPr lang="zh-CN" altLang="en-US" sz="16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词</a:t>
            </a:r>
            <a:r>
              <a:rPr lang="en-US" sz="16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=怎么选 / 不踩雷 / 按肤质选。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差异化定位 + 笔记类型配比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差异化：</a:t>
            </a:r>
            <a:r>
              <a:rPr lang="en-US" sz="1500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lululun占「平价补水」；我们打「高浓度VC精华·提亮·毛孔·进阶功效」。   </a:t>
            </a:r>
            <a:r>
              <a:rPr lang="en-US" sz="15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爆文公式：</a:t>
            </a:r>
            <a:r>
              <a:rPr lang="en-US" sz="1500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🇯🇵日本+怎么选/不踩雷+7图合集+按肤质分类+真人口吻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828800"/>
          <a:ext cx="11247120" cy="3950208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2377440"/>
                <a:gridCol w="5029200"/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内容类型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篇数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达人层级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B·回购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KOC/尾部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真人体感·信任·铺量主力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C·场景种草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KOC/腰部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熬夜/妆前/换季 · 含视频(洼地)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A·选购攻略/合集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腰部/头部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爆文引擎·7+图·按肤质选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D·开箱vlog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KOC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日本好物/药妆店场景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E·比价/囤货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KOC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组合装直播价·囤货划算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9235" y="419735"/>
            <a:ext cx="6067425" cy="368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④ 结合人群 · 设定SPU与选题方向（示范）</a:t>
            </a:r>
            <a:r>
              <a:rPr lang="en-US" altLang="zh-CN">
                <a:solidFill>
                  <a:schemeClr val="tx1"/>
                </a:solidFill>
              </a:rPr>
              <a:t/>
            </a:r>
            <a:r>
              <a:rPr lang="zh-CN" altLang="en-US">
                <a:solidFill>
                  <a:schemeClr val="tx1"/>
                </a:solidFill>
              </a:rPr>
              <a:t/>
            </a:r>
            <a:r>
              <a:rPr lang="en-US" altLang="zh-CN">
                <a:solidFill>
                  <a:schemeClr val="tx1"/>
                </a:solidFill>
              </a:rPr>
              <a:t/>
            </a:r>
            <a:r>
              <a:rPr lang="zh-CN" altLang="en-US">
                <a:solidFill>
                  <a:schemeClr val="tx1"/>
                </a:solidFill>
              </a:rPr>
              <a:t/>
            </a:r>
            <a:r>
              <a:rPr lang="zh-CN" altLang="en-US">
                <a:solidFill>
                  <a:schemeClr val="tx1"/>
                </a:solidFill>
              </a:rPr>
              <a:t/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922020" y="1139825"/>
          <a:ext cx="9387840" cy="4258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9280"/>
                <a:gridCol w="3129280"/>
                <a:gridCol w="3129280"/>
              </a:tblGrid>
              <a:tr h="8369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A·</a:t>
                      </a:r>
                      <a:r>
                        <a:rPr lang="zh-CN" altLang="en-US" sz="1800">
                          <a:sym typeface="+mn-ea"/>
                        </a:rPr>
                        <a:t>选购攻略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C·</a:t>
                      </a:r>
                      <a:r>
                        <a:rPr lang="zh-CN" altLang="en-US" sz="1800">
                          <a:sym typeface="+mn-ea"/>
                        </a:rPr>
                        <a:t>场景种草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11404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熬夜职场女性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「熬夜党面膜怎么选」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「见客户前3分钟急救」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11404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干敏肌/换季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「敏感肌面膜怎么选」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「换季泛红维稳·深蓝」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11404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成分党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「</a:t>
                      </a:r>
                      <a:r>
                        <a:rPr lang="en-US" altLang="zh-CN" sz="1800">
                          <a:sym typeface="+mn-ea"/>
                        </a:rPr>
                        <a:t>VC</a:t>
                      </a:r>
                      <a:r>
                        <a:rPr lang="zh-CN" altLang="en-US" sz="1800">
                          <a:sym typeface="+mn-ea"/>
                        </a:rPr>
                        <a:t>面膜怎么挑不踩雷」	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7965" y="264160"/>
            <a:ext cx="1560195" cy="368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r>
              <a:rPr lang="zh-CN" altLang="en-US"/>
              <a:t>参考笔记</a:t>
            </a:r>
            <a:r>
              <a:rPr lang="zh-CN" altLang="en-US"/>
              <a:t>类型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6595" y="782320"/>
            <a:ext cx="1560195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图文</a:t>
            </a:r>
            <a:endParaRPr lang="zh-CN" altLang="en-US"/>
          </a:p>
        </p:txBody>
      </p:sp>
      <p:pic>
        <p:nvPicPr>
          <p:cNvPr id="4" name="图片 3" descr="截屏2026-08-04 16.59.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38985"/>
            <a:ext cx="2971165" cy="3755390"/>
          </a:xfrm>
          <a:prstGeom prst="rect">
            <a:avLst/>
          </a:prstGeom>
        </p:spPr>
      </p:pic>
      <p:pic>
        <p:nvPicPr>
          <p:cNvPr id="5" name="图片 4" descr="截屏2026-08-04 17.06.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165" y="1903095"/>
            <a:ext cx="2748280" cy="4317365"/>
          </a:xfrm>
          <a:prstGeom prst="rect">
            <a:avLst/>
          </a:prstGeom>
        </p:spPr>
      </p:pic>
      <p:pic>
        <p:nvPicPr>
          <p:cNvPr id="6" name="图片 5" descr="截屏2026-08-04 17.09.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10" y="1903095"/>
            <a:ext cx="3112135" cy="4135755"/>
          </a:xfrm>
          <a:prstGeom prst="rect">
            <a:avLst/>
          </a:prstGeom>
        </p:spPr>
      </p:pic>
      <p:pic>
        <p:nvPicPr>
          <p:cNvPr id="8" name="图片 7" descr="截屏2026-08-04 17.10.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9855" y="1802765"/>
            <a:ext cx="2815590" cy="42360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73405" y="462280"/>
            <a:ext cx="113919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视频</a:t>
            </a:r>
            <a:r>
              <a:rPr lang="zh-CN" altLang="en-US"/>
              <a:t>参考</a:t>
            </a:r>
            <a:endParaRPr lang="zh-CN" altLang="en-US"/>
          </a:p>
        </p:txBody>
      </p:sp>
      <p:pic>
        <p:nvPicPr>
          <p:cNvPr id="3" name="图片 2" descr="截屏2026-08-04 17.02.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65" y="1205865"/>
            <a:ext cx="3035300" cy="4867910"/>
          </a:xfrm>
          <a:prstGeom prst="rect">
            <a:avLst/>
          </a:prstGeom>
        </p:spPr>
      </p:pic>
      <p:pic>
        <p:nvPicPr>
          <p:cNvPr id="4" name="图片 3" descr="截屏2026-08-04 17.14.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765" y="1205865"/>
            <a:ext cx="2995930" cy="4126865"/>
          </a:xfrm>
          <a:prstGeom prst="rect">
            <a:avLst/>
          </a:prstGeom>
        </p:spPr>
      </p:pic>
      <p:pic>
        <p:nvPicPr>
          <p:cNvPr id="5" name="图片 4" descr="截屏2026-08-04 17.01.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035" y="1205865"/>
            <a:ext cx="2882900" cy="4766945"/>
          </a:xfrm>
          <a:prstGeom prst="rect">
            <a:avLst/>
          </a:prstGeom>
        </p:spPr>
      </p:pic>
      <p:pic>
        <p:nvPicPr>
          <p:cNvPr id="6" name="图片 5" descr="截屏2026-08-04 17.16.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890" y="1205865"/>
            <a:ext cx="3087370" cy="40405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关键词库 · 功效词合规三档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291840"/>
                <a:gridCol w="420624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可用(安全)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⚠️ 软化后可用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 禁用(违规/需特证)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补水 · 保湿 · 服帖 · 不闷肤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成分名(VC/烟酰胺/神经酰胺)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3分钟 · 妆前 · 清爽 · 细腻 · 哑光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提亮 · 细致毛孔(替收缩)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改善暗沉感 · 控油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透亮 · 匀净肤色感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美白 · 焕白 · 去黄 · 淡斑 · 淡痘印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抑黑 · 祛痘 · 修复受损 · 修护屏障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促胶原 · 抗老 · 院线级 · 断货王 · NO.1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96875" y="3556000"/>
            <a:ext cx="11247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品牌词：</a:t>
            </a:r>
            <a:r>
              <a:rPr lang="en-US" sz="1400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皇后的秘密</a:t>
            </a:r>
            <a:endParaRPr lang="en-US" sz="1400" b="1" dirty="0">
              <a:solidFill>
                <a:srgbClr val="B0122C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长尾金矿：</a:t>
            </a:r>
            <a:r>
              <a:rPr lang="en-US" sz="1400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日本面膜怎么选·面膜不踩雷·VC面膜怎么选·油皮/敏感肌面膜推荐·神经酰胺面膜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 笔记分布 + 预算(45万/约45篇)</a:t>
            </a:r>
            <a:endParaRPr lang="en-US" sz="2400" dirty="0"/>
          </a:p>
        </p:txBody>
      </p:sp>
      <p:pic>
        <p:nvPicPr>
          <p:cNvPr id="3" name="Image 0" descr="/home/user/-/docs/工作/04-营销推广/代运营-Quality1st/8-10月笔记投放/02-8-10月笔记分布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28980" y="2089150"/>
            <a:ext cx="7228840" cy="2985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0" y="114300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数量估算 </a:t>
            </a:r>
            <a:r>
              <a:rPr lang="zh-CN" altLang="en-US" sz="15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</a:t>
            </a:r>
            <a:r>
              <a:rPr lang="zh-CN" altLang="en-US" sz="1500" b="1" dirty="0">
                <a:solidFill>
                  <a:srgbClr val="B012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</a:t>
            </a:r>
            <a:endParaRPr lang="zh-CN" altLang="en-US" sz="1500" b="1" dirty="0">
              <a:solidFill>
                <a:srgbClr val="B0122C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8595360" y="1554480"/>
          <a:ext cx="3200400" cy="283464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00584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万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篇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头部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按笔直</a:t>
                      </a:r>
                      <a:r>
                        <a:rPr lang="zh-CN" alt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走</a:t>
                      </a:r>
                      <a:endParaRPr lang="zh-CN" alt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0–1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koc(</a:t>
                      </a:r>
                      <a:r>
                        <a:rPr lang="zh-CN" alt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图文）</a:t>
                      </a:r>
                      <a:endParaRPr lang="zh-CN" alt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zh-CN" alt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zh-CN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1.7w</a:t>
                      </a:r>
                      <a:endParaRPr lang="en-US" altLang="zh-CN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30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koc</a:t>
                      </a:r>
                      <a:r>
                        <a:rPr lang="zh-CN" alt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（</a:t>
                      </a:r>
                      <a:r>
                        <a:rPr lang="zh-CN" alt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视频）</a:t>
                      </a:r>
                      <a:endParaRPr lang="zh-CN" alt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3</a:t>
                      </a:r>
                      <a:r>
                        <a:rPr 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w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15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素人</a:t>
                      </a:r>
                      <a:endParaRPr lang="zh-CN" alt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0.15</a:t>
                      </a:r>
                      <a:endParaRPr lang="en-US" altLang="zh-CN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20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595360" y="4572000"/>
            <a:ext cx="32918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总盘≤36万 = 笔记~15万 + 笔直~21万(看直播安排)。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月度排期 · 蓄水→加热→冲刺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737360"/>
          <a:ext cx="11247120" cy="347472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920240"/>
                <a:gridCol w="6035040"/>
                <a:gridCol w="822960"/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月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预算万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节奏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重点动作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篇</a:t>
                      </a:r>
                      <a:endParaRPr lang="en-US" sz="16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8月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~8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蓄水铺量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KOC测评/场景铺量 · 测4种子人群 · 金色+黑银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65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9月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~10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加热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腰部攻略 · 黑钻旗舰起量 · A选购合集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65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10月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~14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冲刺+双11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头部/笔直造势 · A攻略+E囤货 · A3蓄水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45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44068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节奏对齐：11月双11收割 —— 8–10月的种草是为大促蓄水。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7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差异化（对日本线下）· 10 个差异点</a:t>
            </a:r>
            <a:endParaRPr lang="en-US" sz="2400" dirty="0"/>
          </a:p>
        </p:txBody>
      </p:sp>
      <p:pic>
        <p:nvPicPr>
          <p:cNvPr id="3" name="Image 0" descr="/home/user/-/docs/工作/04-营销推广/代运营-Quality1st/8-10月笔记投放/03-人群画像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000" y="914400"/>
            <a:ext cx="7434000" cy="525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2*412"/>
  <p:tag name="TABLE_ENDDRAG_RECT" val="71*82*862*412"/>
</p:tagLst>
</file>

<file path=ppt/tags/tag2.xml><?xml version="1.0" encoding="utf-8"?>
<p:tagLst xmlns:p="http://schemas.openxmlformats.org/presentationml/2006/main">
  <p:tag name="KSO_WM_DIAGRAM_VIRTUALLY_FRAME" val="{&quot;height&quot;:79.2,&quot;left&quot;:36,&quot;top&quot;:82.8,&quot;width&quot;:896.4}"/>
</p:tagLst>
</file>

<file path=ppt/tags/tag3.xml><?xml version="1.0" encoding="utf-8"?>
<p:tagLst xmlns:p="http://schemas.openxmlformats.org/presentationml/2006/main">
  <p:tag name="KSO_WM_DIAGRAM_VIRTUALLY_FRAME" val="{&quot;height&quot;:79.2,&quot;left&quot;:36,&quot;top&quot;:82.8,&quot;width&quot;:896.4}"/>
</p:tagLst>
</file>

<file path=ppt/tags/tag4.xml><?xml version="1.0" encoding="utf-8"?>
<p:tagLst xmlns:p="http://schemas.openxmlformats.org/presentationml/2006/main">
  <p:tag name="KSO_WM_DIAGRAM_VIRTUALLY_FRAME" val="{&quot;height&quot;:79.2,&quot;left&quot;:36,&quot;top&quot;:82.8,&quot;width&quot;:896.4}"/>
</p:tagLst>
</file>

<file path=ppt/tags/tag5.xml><?xml version="1.0" encoding="utf-8"?>
<p:tagLst xmlns:p="http://schemas.openxmlformats.org/presentationml/2006/main">
  <p:tag name="KSO_WM_DIAGRAM_VIRTUALLY_FRAME" val="{&quot;height&quot;:79.2,&quot;left&quot;:36,&quot;top&quot;:82.8,&quot;width&quot;:896.4}"/>
</p:tagLst>
</file>

<file path=ppt/tags/tag6.xml><?xml version="1.0" encoding="utf-8"?>
<p:tagLst xmlns:p="http://schemas.openxmlformats.org/presentationml/2006/main">
  <p:tag name="KSO_WM_DIAGRAM_VIRTUALLY_FRAME" val="{&quot;height&quot;:79.2,&quot;left&quot;:36,&quot;top&quot;:82.8,&quot;width&quot;:896.4}"/>
</p:tagLst>
</file>

<file path=ppt/tags/tag7.xml><?xml version="1.0" encoding="utf-8"?>
<p:tagLst xmlns:p="http://schemas.openxmlformats.org/presentationml/2006/main">
  <p:tag name="KSO_WM_DIAGRAM_VIRTUALLY_FRAME" val="{&quot;height&quot;:79.2,&quot;left&quot;:36,&quot;top&quot;:82.8,&quot;width&quot;:896.4}"/>
</p:tagLst>
</file>

<file path=ppt/tags/tag8.xml><?xml version="1.0" encoding="utf-8"?>
<p:tagLst xmlns:p="http://schemas.openxmlformats.org/presentationml/2006/main">
  <p:tag name="KSO_WM_DIAGRAM_VIRTUALLY_FRAME" val="{&quot;height&quot;:79.2,&quot;left&quot;:36,&quot;top&quot;:82.8,&quot;width&quot;:896.4}"/>
</p:tagLst>
</file>

<file path=ppt/tags/tag9.xml><?xml version="1.0" encoding="utf-8"?>
<p:tagLst xmlns:p="http://schemas.openxmlformats.org/presentationml/2006/main">
  <p:tag name="TABLE_ENDDRAG_ORIGIN_RECT" val="806*354"/>
  <p:tag name="TABLE_ENDDRAG_RECT" val="72*137*806*35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2134</Words>
  <Application>WPS 表格</Application>
  <PresentationFormat>On-screen Show (16:9)</PresentationFormat>
  <Paragraphs>369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Apple Color Emoji</vt:lpstr>
      <vt:lpstr>等线 Light</vt:lpstr>
      <vt:lpstr>Calibri</vt:lpstr>
      <vt:lpstr>Arial</vt:lpstr>
      <vt:lpstr>Anthropic Sans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李 昕哲</cp:lastModifiedBy>
  <cp:revision>2</cp:revision>
  <dcterms:created xsi:type="dcterms:W3CDTF">2026-08-04T09:23:26Z</dcterms:created>
  <dcterms:modified xsi:type="dcterms:W3CDTF">2026-08-04T09:23:26Z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408E9AC3BDABF2A38EAF716A5FF36F25_43</vt:lpwstr>
  </property>
</Properties>
</file>