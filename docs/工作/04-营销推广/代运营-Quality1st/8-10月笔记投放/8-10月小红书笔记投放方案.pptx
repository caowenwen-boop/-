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371600"/>
            <a:ext cx="4023360" cy="402336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389120"/>
            <a:ext cx="2377440" cy="237744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2103120"/>
            <a:ext cx="10058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8–10月 小红书笔记投放方案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658368" y="30632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dirty="0">
                <a:solidFill>
                  <a:srgbClr val="C7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为双11蓄水 · 六维策略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658368" y="379476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CCC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DERMA LASER · 代运营   |   2026-07-31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457200" cy="45720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5156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方案总览 · 六维框架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5E7EA"/>
            </a:solidFill>
            <a:prstDash val="solid"/>
          </a:ln>
          <a:effectLst>
            <a:outerShdw sx="100000" sy="100000" kx="0" ky="0" algn="bl" rotWithShape="0" blurRad="88900" dist="25400" dir="5400000">
              <a:srgbClr val="CCCCCC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856232"/>
            <a:ext cx="640080" cy="64008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85623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1554480" y="189280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人群分析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6517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女性/一二线/高消费·4种子人群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343400" y="16002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5E7EA"/>
            </a:solidFill>
            <a:prstDash val="solid"/>
          </a:ln>
          <a:effectLst>
            <a:outerShdw sx="100000" sy="100000" kx="0" ky="0" algn="bl" rotWithShape="0" blurRad="88900" dist="25400" dir="5400000">
              <a:srgbClr val="CCCCCC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572000" y="1856232"/>
            <a:ext cx="640080" cy="64008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0" y="185623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5349240" y="189280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竞品 lululun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617720" y="26517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选购攻略引擎·差异化卡位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138160" y="160020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5E7EA"/>
            </a:solidFill>
            <a:prstDash val="solid"/>
          </a:ln>
          <a:effectLst>
            <a:outerShdw sx="100000" sy="100000" kx="0" ky="0" algn="bl" rotWithShape="0" blurRad="88900" dist="25400" dir="5400000">
              <a:srgbClr val="CCCCCC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8366760" y="1856232"/>
            <a:ext cx="640080" cy="64008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17" name="Text 15"/>
          <p:cNvSpPr/>
          <p:nvPr/>
        </p:nvSpPr>
        <p:spPr>
          <a:xfrm>
            <a:off x="8366760" y="185623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9144000" y="189280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笔记拆解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412480" y="265176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爆文公式+5类蓝图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374904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5E7EA"/>
            </a:solidFill>
            <a:prstDash val="solid"/>
          </a:ln>
          <a:effectLst>
            <a:outerShdw sx="100000" sy="100000" kx="0" ky="0" algn="bl" rotWithShape="0" blurRad="88900" dist="25400" dir="5400000">
              <a:srgbClr val="CCCCCC">
                <a:alpha val="30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777240" y="4005072"/>
            <a:ext cx="640080" cy="64008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40050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155448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22960" y="48006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品牌/品类/功效(合规三档)/长尾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343400" y="374904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5E7EA"/>
            </a:solidFill>
            <a:prstDash val="solid"/>
          </a:ln>
          <a:effectLst>
            <a:outerShdw sx="100000" sy="100000" kx="0" ky="0" algn="bl" rotWithShape="0" blurRad="88900" dist="25400" dir="5400000">
              <a:srgbClr val="CCCCCC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572000" y="4005072"/>
            <a:ext cx="640080" cy="64008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27" name="Text 25"/>
          <p:cNvSpPr/>
          <p:nvPr/>
        </p:nvSpPr>
        <p:spPr>
          <a:xfrm>
            <a:off x="4572000" y="40050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534924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SPU 设定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4617720" y="48006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5款分工+主推优先级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8138160" y="3749040"/>
            <a:ext cx="352044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 w="12700">
            <a:solidFill>
              <a:srgbClr val="E5E7EA"/>
            </a:solidFill>
            <a:prstDash val="solid"/>
          </a:ln>
          <a:effectLst>
            <a:outerShdw sx="100000" sy="100000" kx="0" ky="0" algn="bl" rotWithShape="0" blurRad="88900" dist="25400" dir="5400000">
              <a:srgbClr val="CCCCCC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8366760" y="4005072"/>
            <a:ext cx="640080" cy="64008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32" name="Text 30"/>
          <p:cNvSpPr/>
          <p:nvPr/>
        </p:nvSpPr>
        <p:spPr>
          <a:xfrm>
            <a:off x="8366760" y="4005072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</a:t>
            </a:r>
            <a:endParaRPr lang="en-US" sz="2000" dirty="0"/>
          </a:p>
        </p:txBody>
      </p:sp>
      <p:sp>
        <p:nvSpPr>
          <p:cNvPr id="33" name="Text 31"/>
          <p:cNvSpPr/>
          <p:nvPr/>
        </p:nvSpPr>
        <p:spPr>
          <a:xfrm>
            <a:off x="9144000" y="4041648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笔记分布+预算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8412480" y="4800600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~45篇·45万·8–10月排期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57200" y="645566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8–10月小红书笔记投放方案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457200" cy="45720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5156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① 人群分析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F4F5F6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373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女性</a:t>
            </a:r>
            <a:endParaRPr lang="en-US" sz="2300" dirty="0"/>
          </a:p>
        </p:txBody>
      </p:sp>
      <p:sp>
        <p:nvSpPr>
          <p:cNvPr id="7" name="Text 5"/>
          <p:cNvSpPr/>
          <p:nvPr/>
        </p:nvSpPr>
        <p:spPr>
          <a:xfrm>
            <a:off x="548640" y="23774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90%+ 粉丝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383280" y="155448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F4F5F6"/>
          </a:solidFill>
          <a:ln/>
        </p:spPr>
      </p:sp>
      <p:sp>
        <p:nvSpPr>
          <p:cNvPr id="9" name="Text 7"/>
          <p:cNvSpPr/>
          <p:nvPr/>
        </p:nvSpPr>
        <p:spPr>
          <a:xfrm>
            <a:off x="3383280" y="17373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25–49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3383280" y="23774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年龄主力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55448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F4F5F6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17373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L5+L4 71%</a:t>
            </a:r>
            <a:endParaRPr lang="en-US" sz="2300" dirty="0"/>
          </a:p>
        </p:txBody>
      </p:sp>
      <p:sp>
        <p:nvSpPr>
          <p:cNvPr id="13" name="Text 11"/>
          <p:cNvSpPr/>
          <p:nvPr/>
        </p:nvSpPr>
        <p:spPr>
          <a:xfrm>
            <a:off x="6217920" y="23774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高消费力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052560" y="1554480"/>
            <a:ext cx="2606040" cy="1371600"/>
          </a:xfrm>
          <a:prstGeom prst="roundRect">
            <a:avLst>
              <a:gd name="adj" fmla="val 6667"/>
            </a:avLst>
          </a:prstGeom>
          <a:solidFill>
            <a:srgbClr val="F4F5F6"/>
          </a:solidFill>
          <a:ln/>
        </p:spPr>
      </p:sp>
      <p:sp>
        <p:nvSpPr>
          <p:cNvPr id="15" name="Text 13"/>
          <p:cNvSpPr/>
          <p:nvPr/>
        </p:nvSpPr>
        <p:spPr>
          <a:xfrm>
            <a:off x="9052560" y="1737360"/>
            <a:ext cx="2606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一二线</a:t>
            </a:r>
            <a:endParaRPr lang="en-US" sz="2300" dirty="0"/>
          </a:p>
        </p:txBody>
      </p:sp>
      <p:sp>
        <p:nvSpPr>
          <p:cNvPr id="16" name="Text 14"/>
          <p:cNvSpPr/>
          <p:nvPr/>
        </p:nvSpPr>
        <p:spPr>
          <a:xfrm>
            <a:off x="9052560" y="2377440"/>
            <a:ext cx="2606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上海/北京/广东/浙江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320040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先测的 4 个种子人群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31520" y="3657600"/>
            <a:ext cx="1051560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熬夜党·都市职场女性(25–34) → 提亮/急救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资深中产女性/家庭主妇(35–49) → 品质护理/维稳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成分党·高学历(本科81%) → 讲成分(VC/烟酰胺)、测评</a:t>
            </a:r>
            <a:endParaRPr lang="en-US" sz="15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学生/年轻党 → 平价日常(看定价再测)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57200" y="645566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8–10月小红书笔记投放方案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457200" cy="45720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5156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② 竞品分析 · lululun</a:t>
            </a:r>
            <a:endParaRPr lang="en-US" sz="2500" dirty="0"/>
          </a:p>
        </p:txBody>
      </p:sp>
      <p:pic>
        <p:nvPicPr>
          <p:cNvPr id="5" name="Image 0" descr="/home/user/-/docs/工作/04-营销推广/代运营-Quality1st/8-10月笔记投放/01-lululun打法规律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71600"/>
            <a:ext cx="7223760" cy="301752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7863840" y="1600200"/>
            <a:ext cx="182880" cy="18288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7" name="Text 4"/>
          <p:cNvSpPr/>
          <p:nvPr/>
        </p:nvSpPr>
        <p:spPr>
          <a:xfrm>
            <a:off x="8183880" y="144475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选购攻略=引擎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8183880" y="1810512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均互动1520≈6倍，怎么选/合集/攻略</a:t>
            </a:r>
            <a:endParaRPr lang="en-US" sz="1150" dirty="0"/>
          </a:p>
        </p:txBody>
      </p:sp>
      <p:sp>
        <p:nvSpPr>
          <p:cNvPr id="9" name="Shape 6"/>
          <p:cNvSpPr/>
          <p:nvPr/>
        </p:nvSpPr>
        <p:spPr>
          <a:xfrm>
            <a:off x="7863840" y="2743200"/>
            <a:ext cx="182880" cy="18288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10" name="Text 7"/>
          <p:cNvSpPr/>
          <p:nvPr/>
        </p:nvSpPr>
        <p:spPr>
          <a:xfrm>
            <a:off x="8183880" y="258775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多图碾压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8183880" y="2953512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7张+均895 vs 1张22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7863840" y="3886200"/>
            <a:ext cx="182880" cy="18288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13" name="Text 10"/>
          <p:cNvSpPr/>
          <p:nvPr/>
        </p:nvSpPr>
        <p:spPr>
          <a:xfrm>
            <a:off x="8183880" y="373075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视频洼地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183880" y="4096512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视频824&gt;图文241，仅5篇=机会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7863840" y="5029200"/>
            <a:ext cx="182880" cy="18288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16" name="Text 13"/>
          <p:cNvSpPr/>
          <p:nvPr/>
        </p:nvSpPr>
        <p:spPr>
          <a:xfrm>
            <a:off x="8183880" y="4873752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国内博主声量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183880" y="5239512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312 vs 日本代购IP 77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57200" y="645566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8–10月小红书笔记投放方案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457200" cy="45720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5156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③ 差异化定位 + 笔记拆解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11064240" cy="1051560"/>
          </a:xfrm>
          <a:prstGeom prst="roundRect">
            <a:avLst>
              <a:gd name="adj" fmla="val 8696"/>
            </a:avLst>
          </a:prstGeom>
          <a:solidFill>
            <a:srgbClr val="FBEEF1"/>
          </a:solidFill>
          <a:ln w="12700">
            <a:solidFill>
              <a:srgbClr val="B0122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1554480"/>
            <a:ext cx="1051560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差异化：</a:t>
            </a:r>
            <a:pPr indent="0" marL="0">
              <a:buNone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lululun占「平价补水药妆店」；我们人群高消费/成熟/成分党 → 打「高浓度VC精华·提亮·毛孔·进阶功效」（精华级·值得囤）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78892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爆文公式：🇯🇵日本 + 决策钩子(怎么选/不踩雷) + 7+图合集 + 按肤质分类 + 真人口吻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20574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7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0080" y="3657600"/>
            <a:ext cx="1874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A·选购攻略/合集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4348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爆文引擎·腰部/头部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88920" y="3474720"/>
            <a:ext cx="20574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7E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880360" y="3657600"/>
            <a:ext cx="1874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B·测评/回购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2880360" y="44348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真人信任·KOC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029200" y="3474720"/>
            <a:ext cx="20574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7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120640" y="3657600"/>
            <a:ext cx="1874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C·场景种草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120640" y="44348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熬夜/妆前·含视频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269480" y="3474720"/>
            <a:ext cx="20574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7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60920" y="3657600"/>
            <a:ext cx="1874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D·开箱vlog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60920" y="44348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日本好物场景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509760" y="3474720"/>
            <a:ext cx="205740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5E7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601200" y="3657600"/>
            <a:ext cx="18745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E·比价/囤货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9601200" y="4434840"/>
            <a:ext cx="1874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组合装划算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645566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8–10月小红书笔记投放方案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457200" cy="45720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5156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④ 关键词库 · 功效词合规三档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2E9E5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73736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E9E5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✅ 可用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37744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补水/保湿/服帖/不闷肤/成分名(VC·烟酰胺)/3分钟/妆前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5544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C79A3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43400" y="173736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⚠️ 软化用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617720" y="237744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提亮/细致毛孔/改善暗沉感/控油/透亮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38160" y="1554480"/>
            <a:ext cx="3520440" cy="3108960"/>
          </a:xfrm>
          <a:prstGeom prst="roundRect">
            <a:avLst>
              <a:gd name="adj" fmla="val 2941"/>
            </a:avLst>
          </a:prstGeom>
          <a:solidFill>
            <a:srgbClr val="FFFFFF"/>
          </a:solidFill>
          <a:ln w="19050">
            <a:solidFill>
              <a:srgbClr val="B012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0" y="1737360"/>
            <a:ext cx="3520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❌ 禁用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8412480" y="2377440"/>
            <a:ext cx="297180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美白·焕白·去黄·淡痘印·抑黑·修复屏障·促胶原·院线级·断货王·销量NO.1·3亿枚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493776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长尾金矿：日本面膜怎么选 · 面膜不踩雷 · VC面膜怎么选 · 油皮/敏感肌面膜推荐 · 神经酰胺面膜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57200" y="645566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8–10月小红书笔记投放方案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457200" cy="45720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5156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⑤ SPU 设定 · 5款分工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02920" cy="502920"/>
          </a:xfrm>
          <a:prstGeom prst="ellipse">
            <a:avLst/>
          </a:prstGeom>
          <a:solidFill>
            <a:srgbClr val="C79A3E"/>
          </a:solidFill>
          <a:ln/>
        </p:spPr>
      </p:sp>
      <p:sp>
        <p:nvSpPr>
          <p:cNvPr id="6" name="Text 4"/>
          <p:cNvSpPr/>
          <p:nvPr/>
        </p:nvSpPr>
        <p:spPr>
          <a:xfrm>
            <a:off x="1325880" y="1554480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金色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657600" y="15544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69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212080" y="1554480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库存300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949440" y="1554480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提亮补水·走量爆款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2532888"/>
            <a:ext cx="502920" cy="502920"/>
          </a:xfrm>
          <a:prstGeom prst="ellipse">
            <a:avLst/>
          </a:prstGeom>
          <a:solidFill>
            <a:srgbClr val="1A1A1A"/>
          </a:solidFill>
          <a:ln/>
        </p:spPr>
      </p:sp>
      <p:sp>
        <p:nvSpPr>
          <p:cNvPr id="11" name="Text 9"/>
          <p:cNvSpPr/>
          <p:nvPr/>
        </p:nvSpPr>
        <p:spPr>
          <a:xfrm>
            <a:off x="1325880" y="2487168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黑钻VC100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57600" y="2487168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加强 89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212080" y="2487168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库存100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949440" y="2487168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黑头净孔·差异化旗舰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640080" y="3465576"/>
            <a:ext cx="502920" cy="50292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16" name="Text 14"/>
          <p:cNvSpPr/>
          <p:nvPr/>
        </p:nvSpPr>
        <p:spPr>
          <a:xfrm>
            <a:off x="1325880" y="3419856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黑银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3657600" y="3419856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加强 89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212080" y="3419856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库存200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949440" y="3419856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水光·细毛孔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40080" y="4398264"/>
            <a:ext cx="502920" cy="502920"/>
          </a:xfrm>
          <a:prstGeom prst="ellipse">
            <a:avLst/>
          </a:prstGeom>
          <a:solidFill>
            <a:srgbClr val="3E6DB5"/>
          </a:solidFill>
          <a:ln/>
        </p:spPr>
      </p:sp>
      <p:sp>
        <p:nvSpPr>
          <p:cNvPr id="21" name="Text 19"/>
          <p:cNvSpPr/>
          <p:nvPr/>
        </p:nvSpPr>
        <p:spPr>
          <a:xfrm>
            <a:off x="1325880" y="4352544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深蓝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657600" y="4352544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69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12080" y="4352544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库存50*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949440" y="4352544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维稳补水·换季</a:t>
            </a:r>
            <a:endParaRPr lang="en-US" sz="1350" dirty="0"/>
          </a:p>
        </p:txBody>
      </p:sp>
      <p:sp>
        <p:nvSpPr>
          <p:cNvPr id="25" name="Shape 23"/>
          <p:cNvSpPr/>
          <p:nvPr/>
        </p:nvSpPr>
        <p:spPr>
          <a:xfrm>
            <a:off x="640080" y="5330952"/>
            <a:ext cx="502920" cy="502920"/>
          </a:xfrm>
          <a:prstGeom prst="ellipse">
            <a:avLst/>
          </a:prstGeom>
          <a:solidFill>
            <a:srgbClr val="8A8F98"/>
          </a:solidFill>
          <a:ln/>
        </p:spPr>
      </p:sp>
      <p:sp>
        <p:nvSpPr>
          <p:cNvPr id="26" name="Text 24"/>
          <p:cNvSpPr/>
          <p:nvPr/>
        </p:nvSpPr>
        <p:spPr>
          <a:xfrm>
            <a:off x="1325880" y="5285232"/>
            <a:ext cx="2194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银色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3657600" y="5285232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 69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5212080" y="5285232"/>
            <a:ext cx="16459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库存50*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949440" y="5285232"/>
            <a:ext cx="45720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提亮(⚠️美白慎)</a:t>
            </a:r>
            <a:endParaRPr lang="en-US" sz="1350" dirty="0"/>
          </a:p>
        </p:txBody>
      </p:sp>
      <p:sp>
        <p:nvSpPr>
          <p:cNvPr id="30" name="Text 28"/>
          <p:cNvSpPr/>
          <p:nvPr/>
        </p:nvSpPr>
        <p:spPr>
          <a:xfrm>
            <a:off x="640080" y="626364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主推：金色+黑银(走量) · 黑钻VC100(内容旗舰) · 深蓝(细分) · 银色(克制)  |  * 库存会补货+进新品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57200" y="645566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8–10月小红书笔记投放方案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457200" cy="45720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5156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⑥ 笔记分布 + 预算</a:t>
            </a:r>
            <a:endParaRPr lang="en-US" sz="2500" dirty="0"/>
          </a:p>
        </p:txBody>
      </p:sp>
      <p:pic>
        <p:nvPicPr>
          <p:cNvPr id="5" name="Image 0" descr="/home/user/-/docs/工作/04-营销推广/代运营-Quality1st/8-10月笔记投放/02-8-10月笔记分布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17320"/>
            <a:ext cx="7498080" cy="310896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138160" y="1554480"/>
            <a:ext cx="3657600" cy="3108960"/>
          </a:xfrm>
          <a:prstGeom prst="roundRect">
            <a:avLst>
              <a:gd name="adj" fmla="val 2941"/>
            </a:avLst>
          </a:prstGeom>
          <a:solidFill>
            <a:srgbClr val="F4F5F6"/>
          </a:solidFill>
          <a:ln/>
        </p:spPr>
      </p:sp>
      <p:sp>
        <p:nvSpPr>
          <p:cNvPr id="7" name="Text 4"/>
          <p:cNvSpPr/>
          <p:nvPr/>
        </p:nvSpPr>
        <p:spPr>
          <a:xfrm>
            <a:off x="8321040" y="173736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总盘 ≤ 87万日元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58200" y="2286000"/>
            <a:ext cx="3200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笔记种草 ~45万（约45篇）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直播/笔直合作 ~42万（预留·看直播安排）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层级：KOC铺量为主 + 腰部攻略 + 头部造势</a:t>
            </a:r>
            <a:endParaRPr lang="en-US" sz="125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2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主推：金色/黑钻/黑银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457200" y="645566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8–10月小红书笔记投放方案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457200" cy="45720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5156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月度排期 · 蓄水→加热→冲刺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3520440" cy="731520"/>
          </a:xfrm>
          <a:prstGeom prst="roundRect">
            <a:avLst>
              <a:gd name="adj" fmla="val 12500"/>
            </a:avLst>
          </a:prstGeom>
          <a:solidFill>
            <a:srgbClr val="3E6DB5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64592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8月 · 蓄水铺量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029968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E8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~16万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246888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7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651760"/>
            <a:ext cx="31089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KOC测评/场景铺量~16篇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测4个种子人群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金色+黑银为主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4343400" y="1645920"/>
            <a:ext cx="3520440" cy="731520"/>
          </a:xfrm>
          <a:prstGeom prst="roundRect">
            <a:avLst>
              <a:gd name="adj" fmla="val 12500"/>
            </a:avLst>
          </a:prstGeom>
          <a:solidFill>
            <a:srgbClr val="C79A3E"/>
          </a:solidFill>
          <a:ln/>
        </p:spPr>
      </p:sp>
      <p:sp>
        <p:nvSpPr>
          <p:cNvPr id="11" name="Text 9"/>
          <p:cNvSpPr/>
          <p:nvPr/>
        </p:nvSpPr>
        <p:spPr>
          <a:xfrm>
            <a:off x="4434840" y="164592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9月 · 加热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434840" y="2029968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E8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~15万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343400" y="246888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7E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0" y="2651760"/>
            <a:ext cx="31089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优质选题加腰部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黑钻旗舰内容起量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A攻略合集上~16篇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8138160" y="1645920"/>
            <a:ext cx="3520440" cy="731520"/>
          </a:xfrm>
          <a:prstGeom prst="roundRect">
            <a:avLst>
              <a:gd name="adj" fmla="val 12500"/>
            </a:avLst>
          </a:prstGeom>
          <a:solidFill>
            <a:srgbClr val="B0122C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1645920"/>
            <a:ext cx="3337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10月 · 冲刺+双11蓄水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8229600" y="2029968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E8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~14万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138160" y="2468880"/>
            <a:ext cx="35204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5E7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66760" y="2651760"/>
            <a:ext cx="310896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头部/笔直合作造势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A攻略+E囤货放量</a:t>
            </a:r>
            <a:endParaRPr lang="en-US" sz="135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35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A3人群蓄水~13篇</a:t>
            </a:r>
            <a:endParaRPr lang="en-US" sz="1350" dirty="0"/>
          </a:p>
        </p:txBody>
      </p:sp>
      <p:sp>
        <p:nvSpPr>
          <p:cNvPr id="20" name="Text 18"/>
          <p:cNvSpPr/>
          <p:nvPr/>
        </p:nvSpPr>
        <p:spPr>
          <a:xfrm>
            <a:off x="457200" y="645566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8–10月小红书笔记投放方案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11480"/>
            <a:ext cx="457200" cy="457200"/>
          </a:xfrm>
          <a:prstGeom prst="ellipse">
            <a:avLst/>
          </a:prstGeom>
          <a:solidFill>
            <a:srgbClr val="B0122C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411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1051560" y="411480"/>
            <a:ext cx="10515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监控机制 + 合规红线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394960" cy="3840480"/>
          </a:xfrm>
          <a:prstGeom prst="roundRect">
            <a:avLst>
              <a:gd name="adj" fmla="val 2381"/>
            </a:avLst>
          </a:prstGeom>
          <a:solidFill>
            <a:srgbClr val="F4F5F6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17373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KPI 监控（周报）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60120" y="2286000"/>
            <a:ext cx="48463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爆文率 / 笔记数 / 互动率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长尾词搜索排名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A3种草人群量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加购收藏 / 天猫承接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周报透明 + 双周复盘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17920" y="1554480"/>
            <a:ext cx="5394960" cy="3840480"/>
          </a:xfrm>
          <a:prstGeom prst="roundRect">
            <a:avLst>
              <a:gd name="adj" fmla="val 2381"/>
            </a:avLst>
          </a:prstGeom>
          <a:solidFill>
            <a:srgbClr val="FBEEF1"/>
          </a:solidFill>
          <a:ln w="12700">
            <a:solidFill>
              <a:srgbClr val="B012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737360"/>
            <a:ext cx="4572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0122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合规红线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629400" y="2286000"/>
            <a:ext cx="484632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功效词走✅/⚠️档，❌词绝不进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禁美白/去黄/淡痘印/院线级/极限词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禁站外硬导流(天猫链接/微信)</a:t>
            </a:r>
            <a:endParaRPr lang="en-US" sz="14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23272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背书数据(3亿枚/NO.1)需可证·慎用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6455664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Quality 1st · 皇后的秘密 · 代运营  |  8–10月小红书笔记投放方案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430000" y="6455664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F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188720" y="4572000"/>
            <a:ext cx="3474720" cy="3474720"/>
          </a:xfrm>
          <a:prstGeom prst="ellipse">
            <a:avLst/>
          </a:prstGeom>
          <a:solidFill>
            <a:srgbClr val="990011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9144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7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一句话总结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164592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8–10月用 ≤87万日元（笔记~45万+直播~42万），</a:t>
            </a:r>
            <a:endParaRPr lang="en-US" sz="2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以差异化「精华·毛孔」内容为双11蓄水收割。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822960" y="36576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B012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36576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463040" y="36118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直播/笔直合作盘 ~42万：看直播安排灵活调剂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822960" y="43434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B0122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4343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463040" y="42976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新品上架：套用现有人群/关键词/SPU框架纳入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22960" y="5029200"/>
            <a:ext cx="457200" cy="457200"/>
          </a:xfrm>
          <a:prstGeom prst="roundRect">
            <a:avLst>
              <a:gd name="adj" fmla="val 12000"/>
            </a:avLst>
          </a:prstGeom>
          <a:solidFill>
            <a:srgbClr val="B0122C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5029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✓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463040" y="49834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全程 ROAS/爆文/合规 周报透明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59893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79A3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结论先行 · 数据支撑 · 合规可控 · 为双11蓄水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2026-08-04T05:15:25Z</dcterms:created>
  <dcterms:modified xsi:type="dcterms:W3CDTF">2026-08-04T05:15:25Z</dcterms:modified>
</cp:coreProperties>
</file>