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4" r:id="rId3"/>
    <p:sldId id="262" r:id="rId4"/>
    <p:sldId id="263" r:id="rId5"/>
    <p:sldId id="257" r:id="rId6"/>
    <p:sldId id="261" r:id="rId8"/>
    <p:sldId id="259" r:id="rId9"/>
    <p:sldId id="260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sdin" initials="I" lastIdx="1" clrIdx="0"/>
  <p:cmAuthor id="107" name="yangyanxia" initials="y" lastIdx="1" clrIdx="0"/>
  <p:cmAuthor id="1" name="757159689@qq.com" initials="7" lastIdx="1" clrIdx="0"/>
  <p:cmAuthor id="108" name="刘春辉" initials="刘" lastIdx="4" clrIdx="28"/>
  <p:cmAuthor id="2" name="Administrator" initials="A" lastIdx="1" clrIdx="1"/>
  <p:cmAuthor id="109" name="赵兰玉" initials="赵" lastIdx="1" clrIdx="0"/>
  <p:cmAuthor id="3" name="admin" initials="a" lastIdx="1" clrIdx="2"/>
  <p:cmAuthor id="110" name="杜娇龙" initials="杜" lastIdx="2" clrIdx="1"/>
  <p:cmAuthor id="4" name="王习习" initials="王" lastIdx="2" clrIdx="0"/>
  <p:cmAuthor id="111" name="Qingyunli" initials="Q" lastIdx="24" clrIdx="0"/>
  <p:cmAuthor id="5" name="作者" initials="A" lastIdx="1" clrIdx="2"/>
  <p:cmAuthor id="112" name="王向羽" initials="王" lastIdx="1" clrIdx="0"/>
  <p:cmAuthor id="113" name="吴军" initials="吴" lastIdx="1" clrIdx="0"/>
  <p:cmAuthor id="7" name="EDZ" initials="E" lastIdx="1" clrIdx="5"/>
  <p:cmAuthor id="114" name="番茄花园" initials="番" lastIdx="1" clrIdx="0"/>
  <p:cmAuthor id="8" name="Imported Author" initials="I" lastIdx="2" clrIdx="0"/>
  <p:cmAuthor id="115" name="evil" initials="e" lastIdx="0" clrIdx="0"/>
  <p:cmAuthor id="9" name="yichen" initials="y" lastIdx="1" clrIdx="8"/>
  <p:cmAuthor id="116" name="dell" initials="d" lastIdx="1" clrIdx="4"/>
  <p:cmAuthor id="10" name="gaofei" initials="g" lastIdx="62" clrIdx="7"/>
  <p:cmAuthor id="117" name="叶得会" initials="叶" lastIdx="8" clrIdx="0"/>
  <p:cmAuthor id="11" name="冯狄" initials="冯" lastIdx="1" clrIdx="6"/>
  <p:cmAuthor id="118" name="未知用户6" initials="未" lastIdx="1" clrIdx="0"/>
  <p:cmAuthor id="12" name="dao" initials="d" lastIdx="11" clrIdx="15"/>
  <p:cmAuthor id="119" name="未知用户8" initials="未" lastIdx="1" clrIdx="0"/>
  <p:cmAuthor id="13" name="muyi" initials="m" lastIdx="1" clrIdx="12"/>
  <p:cmAuthor id="120" name="未知用户7" initials="未" lastIdx="1" clrIdx="0"/>
  <p:cmAuthor id="14" name="yujie zhang" initials="yz" lastIdx="1" clrIdx="13"/>
  <p:cmAuthor id="121" name="未知用户9" initials="未" lastIdx="1" clrIdx="0"/>
  <p:cmAuthor id="15" name="yangang" initials="y" lastIdx="1" clrIdx="14"/>
  <p:cmAuthor id="122" name="USER" initials="U" lastIdx="18" clrIdx="0"/>
  <p:cmAuthor id="123" name="未知用户17" initials="未" lastIdx="1" clrIdx="1"/>
  <p:cmAuthor id="17" name="广权" initials="广" lastIdx="1" clrIdx="0"/>
  <p:cmAuthor id="124" name="未知用户18" initials="未" lastIdx="1" clrIdx="0"/>
  <p:cmAuthor id="18" name="lishouting" initials="l" lastIdx="1" clrIdx="17"/>
  <p:cmAuthor id="125" name="未知用户20" initials="未" lastIdx="1" clrIdx="0"/>
  <p:cmAuthor id="19" name="原鹏" initials="原" lastIdx="1" clrIdx="34"/>
  <p:cmAuthor id="126" name="未知用户19" initials="未" lastIdx="1" clrIdx="0"/>
  <p:cmAuthor id="20" name="hyrx05" initials="h" lastIdx="3" clrIdx="5"/>
  <p:cmAuthor id="127" name="Lzy" initials="L" lastIdx="1" clrIdx="0"/>
  <p:cmAuthor id="21" name="lijin" initials="l" lastIdx="33" clrIdx="0"/>
  <p:cmAuthor id="128" name="陈尚文" initials="陈" lastIdx="1" clrIdx="1"/>
  <p:cmAuthor id="22" name="张静" initials="张" lastIdx="9" clrIdx="0"/>
  <p:cmAuthor id="129" name="张宏伟" initials="张" lastIdx="46" clrIdx="0"/>
  <p:cmAuthor id="23" name="未知用户22" initials="未" lastIdx="34" clrIdx="0"/>
  <p:cmAuthor id="130" name="张 开阔" initials="张" lastIdx="1" clrIdx="104"/>
  <p:cmAuthor id="24" name="吕志勇" initials="吕" lastIdx="8" clrIdx="0"/>
  <p:cmAuthor id="131" name="刘彤彤" initials="x" lastIdx="1" clrIdx="105"/>
  <p:cmAuthor id="25" name="rq fan" initials="r" lastIdx="3" clrIdx="1"/>
  <p:cmAuthor id="26" name="何已龙" initials="何" lastIdx="2" clrIdx="2"/>
  <p:cmAuthor id="133" name="334857932@qq.com" initials="3" lastIdx="1" clrIdx="132"/>
  <p:cmAuthor id="27" name="张雁" initials="张" lastIdx="1" clrIdx="19"/>
  <p:cmAuthor id="134" name="KC" initials="K" lastIdx="1" clrIdx="133"/>
  <p:cmAuthor id="28" name="陈桂枝" initials="陈" lastIdx="1" clrIdx="0"/>
  <p:cmAuthor id="29" name="未知用户12" initials="未" lastIdx="1" clrIdx="0"/>
  <p:cmAuthor id="30" name="Microsoft 帐户" initials="M" lastIdx="1" clrIdx="0"/>
  <p:cmAuthor id="31" name="刘艳龙" initials="刘" lastIdx="1" clrIdx="0"/>
  <p:cmAuthor id="138" name="宋少霞" initials="宋" lastIdx="1" clrIdx="2"/>
  <p:cmAuthor id="32" name="李威" initials="李" lastIdx="1" clrIdx="3"/>
  <p:cmAuthor id="33" name="李明" initials="李" lastIdx="4" clrIdx="73"/>
  <p:cmAuthor id="34" name="未知用户1" initials="未" lastIdx="1" clrIdx="3"/>
  <p:cmAuthor id="35" name="朱悦龙" initials="朱" lastIdx="1" clrIdx="0"/>
  <p:cmAuthor id="36" name="未知用户2" initials="未" lastIdx="0" clrIdx="0"/>
  <p:cmAuthor id="37" name="吴铁映" initials="吴" lastIdx="1" clrIdx="34"/>
  <p:cmAuthor id="38" name="未知用户3" initials="未" lastIdx="4" clrIdx="1"/>
  <p:cmAuthor id="39" name="未知用户13" initials="未" lastIdx="4" clrIdx="28"/>
  <p:cmAuthor id="40" name="微软用户" initials="微" lastIdx="0" clrIdx="0"/>
  <p:cmAuthor id="41" name="thinkpad" initials="t" lastIdx="2" clrIdx="0"/>
  <p:cmAuthor id="42" name="刘传坤" initials="刘" lastIdx="14" clrIdx="0"/>
  <p:cmAuthor id="43" name="panhong" initials="p" lastIdx="18" clrIdx="0"/>
  <p:cmAuthor id="44" name="未知用户4" initials="未" lastIdx="5" clrIdx="2"/>
  <p:cmAuthor id="45" name="未知用户5" initials="未" lastIdx="4" clrIdx="3"/>
  <p:cmAuthor id="46" name="李丽华" initials="李" lastIdx="12" clrIdx="1"/>
  <p:cmAuthor id="47" name="jl liu" initials="j" lastIdx="4" clrIdx="0"/>
  <p:cmAuthor id="48" name="China" initials="C" lastIdx="1" clrIdx="1"/>
  <p:cmAuthor id="49" name="未定义" initials="未" lastIdx="2" clrIdx="0"/>
  <p:cmAuthor id="50" name="张惠" initials="张" lastIdx="1" clrIdx="0"/>
  <p:cmAuthor id="51" name="吴铭锐" initials="吴" lastIdx="2" clrIdx="0"/>
  <p:cmAuthor id="52" name="李百秋" initials="李" lastIdx="3" clrIdx="21"/>
  <p:cmAuthor id="53" name="杨静" initials="杨" lastIdx="1" clrIdx="22"/>
  <p:cmAuthor id="54" name="Zhou, Judy" initials="Z" lastIdx="9" clrIdx="0"/>
  <p:cmAuthor id="55" name="范作霖" initials="范" lastIdx="1" clrIdx="22"/>
  <p:cmAuthor id="56" name="张立鑫" initials="张" lastIdx="1" clrIdx="23"/>
  <p:cmAuthor id="57" name="包珊珊" initials="包" lastIdx="7" clrIdx="23"/>
  <p:cmAuthor id="58" name="YuQing" initials="Y" lastIdx="9" clrIdx="0"/>
  <p:cmAuthor id="59" name="Youwen Sun" initials="Y" lastIdx="3" clrIdx="1"/>
  <p:cmAuthor id="60" name="未知" initials="未" lastIdx="1" clrIdx="0"/>
  <p:cmAuthor id="61" name="周满红" initials="周" lastIdx="24" clrIdx="0"/>
  <p:cmAuthor id="62" name="未知用户10" initials="未" lastIdx="9" clrIdx="0"/>
  <p:cmAuthor id="63" name="未知用户11" initials="未" lastIdx="1" clrIdx="0"/>
  <p:cmAuthor id="64" name="魏永生" initials="魏" lastIdx="4" clrIdx="17"/>
  <p:cmAuthor id="66" name="dingbo" initials="d" lastIdx="1" clrIdx="0"/>
  <p:cmAuthor id="67" name="郝崇" initials="郝" lastIdx="4" clrIdx="1"/>
  <p:cmAuthor id="68" name="吴杰" initials="吴" lastIdx="1" clrIdx="0"/>
  <p:cmAuthor id="69" name="刘丽仙" initials="刘" lastIdx="4" clrIdx="33"/>
  <p:cmAuthor id="70" name="陶川" initials="陶" lastIdx="1" clrIdx="0"/>
  <p:cmAuthor id="71" name="张杰" initials="张" lastIdx="7" clrIdx="0"/>
  <p:cmAuthor id="72" name="杨艳霞" initials="杨" lastIdx="34" clrIdx="1"/>
  <p:cmAuthor id="2000" name="博洋家纺   夏小飞" initials="authorId_4092029" lastIdx="0" clrIdx="0"/>
  <p:cmAuthor id="74" name="吕喜龙" initials="吕" lastIdx="10" clrIdx="0"/>
  <p:cmAuthor id="75" name="andres.x.gomez" initials="a" lastIdx="4" clrIdx="0"/>
  <p:cmAuthor id="76" name="丁芙蓉" initials="丁" lastIdx="4" clrIdx="1"/>
  <p:cmAuthor id="77" name="gtmc" initials="g" lastIdx="0" clrIdx="0"/>
  <p:cmAuthor id="78" name="chunsong_hu" initials="c" lastIdx="0" clrIdx="0"/>
  <p:cmAuthor id="79" name="未知用户23" initials="未" lastIdx="1" clrIdx="1"/>
  <p:cmAuthor id="80" name="未知用户24" initials="未" lastIdx="1" clrIdx="0"/>
  <p:cmAuthor id="81" name="未知用户25" initials="未" lastIdx="1" clrIdx="0"/>
  <p:cmAuthor id="82" name="未知用户26" initials="未" lastIdx="1" clrIdx="0"/>
  <p:cmAuthor id="83" name="未知用户27" initials="未" lastIdx="1" clrIdx="0"/>
  <p:cmAuthor id="84" name="未知用户28" initials="未" lastIdx="1" clrIdx="0"/>
  <p:cmAuthor id="85" name="未知用户29" initials="未" lastIdx="1" clrIdx="0"/>
  <p:cmAuthor id="86" name="未知用户30" initials="未" lastIdx="4" clrIdx="0"/>
  <p:cmAuthor id="87" name="yangkun" initials="y" lastIdx="0" clrIdx="0"/>
  <p:cmAuthor id="88" name="Lenovo User" initials="L" lastIdx="1" clrIdx="0"/>
  <p:cmAuthor id="89" name="hys2" initials="h" lastIdx="1" clrIdx="0"/>
  <p:cmAuthor id="90" name="朱绍春" initials="朱" lastIdx="13" clrIdx="0"/>
  <p:cmAuthor id="91" name="邹洋" initials="邹" lastIdx="2" clrIdx="0"/>
  <p:cmAuthor id="92" name="孟祥超" initials="孟" lastIdx="2" clrIdx="1"/>
  <p:cmAuthor id="93" name="贡鑫" initials="贡" lastIdx="2" clrIdx="0"/>
  <p:cmAuthor id="94" name="administrator1" initials="a" lastIdx="16" clrIdx="2"/>
  <p:cmAuthor id="95" name="杜雪梅" initials="杜" lastIdx="1" clrIdx="0"/>
  <p:cmAuthor id="96" name="仝德志" initials="仝" lastIdx="1" clrIdx="0"/>
  <p:cmAuthor id="97" name="马静" initials="马" lastIdx="0" clrIdx="0"/>
  <p:cmAuthor id="98" name="liying" initials="l" lastIdx="11" clrIdx="0"/>
  <p:cmAuthor id="99" name="张钦" initials="张" lastIdx="4" clrIdx="4"/>
  <p:cmAuthor id="100" name="nine" initials="n" lastIdx="1" clrIdx="0"/>
  <p:cmAuthor id="101" name="涛娜" initials="涛" lastIdx="1" clrIdx="11"/>
  <p:cmAuthor id="102" name="桓蕾" initials="桓" lastIdx="1" clrIdx="101"/>
  <p:cmAuthor id="104" name="鲍华明" initials="鲍" lastIdx="1" clrIdx="0"/>
  <p:cmAuthor id="105" name="刘广艳" initials="刘" lastIdx="10" clrIdx="1"/>
  <p:cmAuthor id="106" name="邹积逊" initials="邹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图片 5" descr="微信图片_20260722175645_474_37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1761490"/>
            <a:ext cx="12191365" cy="861949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797560" y="518922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选择适合你的DERMA LASER面膜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7560" y="375158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开启3分钟焕肤体验！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97560" y="595122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 QUALITY 1st DERMA LASER 系列，发现属于你的完美肌肤状态。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文本框 2"/>
          <p:cNvSpPr txBox="1"/>
          <p:nvPr/>
        </p:nvSpPr>
        <p:spPr>
          <a:xfrm>
            <a:off x="72390" y="2298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线下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店铺售卖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 descr="记着来🇯🇵时，多带几包回去✈️🧳_1_逍遥游在東京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0790" y="822325"/>
            <a:ext cx="3409315" cy="4547235"/>
          </a:xfrm>
          <a:prstGeom prst="rect">
            <a:avLst/>
          </a:prstGeom>
        </p:spPr>
      </p:pic>
      <p:pic>
        <p:nvPicPr>
          <p:cNvPr id="5" name="图片 4" descr="_1_三丽鸥狂热爱好者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" y="822325"/>
            <a:ext cx="3409950" cy="4547235"/>
          </a:xfrm>
          <a:prstGeom prst="rect">
            <a:avLst/>
          </a:prstGeom>
        </p:spPr>
      </p:pic>
      <p:pic>
        <p:nvPicPr>
          <p:cNvPr id="6" name="图片 5" descr="日本药妆店好物分享_1_三万_来自小红书网页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105" y="835660"/>
            <a:ext cx="2316480" cy="3089275"/>
          </a:xfrm>
          <a:prstGeom prst="rect">
            <a:avLst/>
          </a:prstGeom>
        </p:spPr>
      </p:pic>
      <p:pic>
        <p:nvPicPr>
          <p:cNvPr id="7" name="图片 6" descr="_1_不爱吃青菜的kiyoi酱_来自小红书网页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585" y="835660"/>
            <a:ext cx="2229485" cy="2971165"/>
          </a:xfrm>
          <a:prstGeom prst="rect">
            <a:avLst/>
          </a:prstGeom>
        </p:spPr>
      </p:pic>
      <p:pic>
        <p:nvPicPr>
          <p:cNvPr id="8" name="图片 7" descr="说好哪一个颜色最好用_4_AU_来自小红书网页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105" y="2172970"/>
            <a:ext cx="4558665" cy="3196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0255" y="3978275"/>
            <a:ext cx="1983740" cy="28797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745" y="3302000"/>
            <a:ext cx="2048510" cy="3556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65" y="890905"/>
            <a:ext cx="1903730" cy="33750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390" y="2298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以往合作明星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达人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t="815"/>
          <a:stretch>
            <a:fillRect/>
          </a:stretch>
        </p:blipFill>
        <p:spPr>
          <a:xfrm>
            <a:off x="3287395" y="3666490"/>
            <a:ext cx="1861820" cy="31915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170" y="891540"/>
            <a:ext cx="2030730" cy="33743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8300" y="890905"/>
            <a:ext cx="1904365" cy="33750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8300" y="890905"/>
            <a:ext cx="1904365" cy="33750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10" y="890905"/>
            <a:ext cx="1903730" cy="33750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345" y="890905"/>
            <a:ext cx="1904365" cy="33750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2450" y="890905"/>
            <a:ext cx="2461895" cy="33108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183602" y="-19571"/>
            <a:ext cx="8999219" cy="987066"/>
          </a:xfrm>
          <a:prstGeom prst="rect">
            <a:avLst/>
          </a:prstGeom>
          <a:solidFill>
            <a:schemeClr val="bg2"/>
          </a:solidFill>
        </p:spPr>
        <p:txBody>
          <a:bodyPr rtlCol="0" anchor="ctr"/>
          <a:lstStyle/>
          <a:p>
            <a:pPr algn="ctr">
              <a:lnSpc>
                <a:spcPct val="125000"/>
              </a:lnSpc>
            </a:pPr>
            <a:endParaRPr lang="zh-CN" altLang="en-US" sz="2000" dirty="0" err="1">
              <a:latin typeface="思源黑体 CN Light" panose="020B0600000000000000" pitchFamily="34" charset="-128"/>
              <a:ea typeface="思源黑体 CN Light" panose="020B0600000000000000" pitchFamily="34" charset="-128"/>
            </a:endParaRPr>
          </a:p>
        </p:txBody>
      </p:sp>
      <p:sp>
        <p:nvSpPr>
          <p:cNvPr id="3" name="TextBox 3"/>
          <p:cNvSpPr/>
          <p:nvPr/>
        </p:nvSpPr>
        <p:spPr bwMode="auto">
          <a:xfrm>
            <a:off x="-6557" y="-10475"/>
            <a:ext cx="3258392" cy="987067"/>
          </a:xfrm>
          <a:prstGeom prst="rect">
            <a:avLst/>
          </a:prstGeom>
          <a:solidFill>
            <a:schemeClr val="tx1"/>
          </a:solidFill>
        </p:spPr>
        <p:txBody>
          <a:bodyPr rtlCol="0" anchor="b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3200" b="1" i="0" u="none" strike="noStrike" cap="non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 bwMode="auto">
          <a:xfrm flipH="1">
            <a:off x="3251835" y="976630"/>
            <a:ext cx="0" cy="5867399"/>
          </a:xfrm>
          <a:prstGeom prst="line">
            <a:avLst/>
          </a:prstGeom>
          <a:ln w="12700">
            <a:solidFill>
              <a:srgbClr val="A4A4A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/>
          <p:nvPr/>
        </p:nvSpPr>
        <p:spPr bwMode="auto">
          <a:xfrm>
            <a:off x="8003585" y="2599463"/>
            <a:ext cx="4097576" cy="833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15000"/>
              </a:lnSpc>
              <a:buFont typeface="+mj-ea"/>
              <a:buNone/>
            </a:pPr>
            <a:r>
              <a:rPr lang="zh-CN" alt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</a:t>
            </a: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适合肤质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屏障受损，对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衍生物过敏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r>
              <a:rPr lang="zh-CN" alt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注意事项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官方建议上脸使用</a:t>
            </a: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分钟，效果更佳</a:t>
            </a:r>
            <a:endParaRPr lang="en-US" altLang="zh-CN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endParaRPr lang="en-US" altLang="zh-CN" sz="1400" b="1" i="0" u="none" strike="noStrike" cap="none" spc="0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/>
          <p:nvPr/>
        </p:nvSpPr>
        <p:spPr bwMode="auto">
          <a:xfrm>
            <a:off x="3251783" y="2277917"/>
            <a:ext cx="4476115" cy="1081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用户痛点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sz="1400" dirty="0">
              <a:solidFill>
                <a:srgbClr val="0D0015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肤色暗沉，熬夜蜡黄</a:t>
            </a:r>
            <a:endParaRPr lang="zh-CN" altLang="en-US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毛孔粗大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，黑头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明显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缺水干燥，上妆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卡粉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/>
          <p:nvPr/>
        </p:nvSpPr>
        <p:spPr bwMode="auto">
          <a:xfrm>
            <a:off x="3251783" y="3369621"/>
            <a:ext cx="8663286" cy="1081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核心科技</a:t>
            </a:r>
            <a:r>
              <a:rPr lang="zh-CN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1" spc="-2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>
                <a:solidFill>
                  <a:schemeClr val="tx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400" b="1">
                <a:solidFill>
                  <a:schemeClr val="tx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</a:t>
            </a:r>
            <a:r>
              <a:rPr lang="en-US" sz="1400" b="1">
                <a:solidFill>
                  <a:schemeClr val="tx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维他命C × Nano Capsule科技</a:t>
            </a:r>
            <a:endParaRPr lang="en-US" altLang="zh-CN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强效锁活抗氧化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纳米胶囊密封包裹四重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，隔绝光氧，牢牢锁住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高活性不氧化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强效深层渗透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纳米微囊触肤爆破释放养分，穿透角质直达肌底，提升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吸收力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强效短时焕肤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三重雷射微压导入，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分钟快速完成院线级密集提亮护理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0" y="75565"/>
            <a:ext cx="3251835" cy="7524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rtlCol="0" fromWordArt="0" anchor="t" anchorCtr="0" forceAA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皇后的秘密毛孔隐形精华面膜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9"/>
          <p:cNvSpPr/>
          <p:nvPr/>
        </p:nvSpPr>
        <p:spPr bwMode="auto">
          <a:xfrm>
            <a:off x="3473450" y="231563"/>
            <a:ext cx="8744585" cy="482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4 种 </a:t>
            </a:r>
            <a:r>
              <a:rPr lang="en-US" altLang="zh-CN" sz="2200" b="1" spc="-20" dirty="0">
                <a:latin typeface="微软雅黑" panose="020B0503020204020204" charset="-122"/>
                <a:cs typeface="微软雅黑" panose="020B0503020204020204" charset="-122"/>
              </a:rPr>
              <a:t>VC100</a:t>
            </a: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纳米渗透，3 分钟急救提亮，收毛孔促胶原补水保湿</a:t>
            </a:r>
            <a:endParaRPr lang="zh-CN" altLang="en-US" sz="2200" b="1" spc="-2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200" b="1" spc="-2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51783" y="4378459"/>
            <a:ext cx="8561047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主要成分</a:t>
            </a:r>
            <a:r>
              <a:rPr lang="zh-CN" altLang="en-US" sz="1400" b="1" spc="-25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1" dirty="0">
                <a:latin typeface="微软雅黑" panose="020B0503020204020204" charset="-122"/>
                <a:cs typeface="微软雅黑" panose="020B0503020204020204" charset="-122"/>
              </a:rPr>
              <a:t>汇聚核心焕亮成分</a:t>
            </a:r>
            <a:r>
              <a:rPr lang="en-US" altLang="zh-CN" sz="1400" b="1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 dirty="0">
                <a:latin typeface="微软雅黑" panose="020B0503020204020204" charset="-122"/>
                <a:cs typeface="微软雅黑" panose="020B0503020204020204" charset="-122"/>
              </a:rPr>
              <a:t>专研复配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复合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VC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精华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收缩毛孔，促进胶原蛋白合成，淡化肌肤暗沉、改善肤色不均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10%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烟酰胺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进一步阻止黑色素生成，收敛毛孔，细腻肌肤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神经酰胺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舒缓修护、改善敏感肌泛红，强效锁水保湿，提升肌肤屏障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黄柏树皮提取物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减轻泛红舒缓敏感不适，收敛毛孔，促进肌肤屏障修复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51783" y="5546859"/>
            <a:ext cx="8206009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使用体验</a:t>
            </a:r>
            <a:r>
              <a:rPr lang="zh-CN" altLang="en-US" sz="1400" b="1" spc="-5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轻薄服帖膜布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轻薄隐形膜布，紧密贴合全脸，敷贴过程不易滑落，上脸清爽无闷肤负担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短时急救护理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仅需</a:t>
            </a:r>
            <a:r>
              <a:rPr lang="en-US" altLang="zh-CN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分钟，快速密集焕肤，妆前急救、通勤护肤省时高效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多场景随心用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日常通勤、熬夜暗沉急救、出差旅行都适配，随时提亮细腻毛孔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6562" y="4987238"/>
            <a:ext cx="3382963" cy="17204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-金色款 </a:t>
            </a:r>
            <a:endParaRPr lang="zh-CN" altLang="en-US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日常价</a:t>
            </a:r>
            <a:r>
              <a:rPr lang="zh-CN" altLang="en-US" dirty="0"/>
              <a:t>：</a:t>
            </a:r>
            <a:r>
              <a:rPr lang="en-US" altLang="zh-CN" dirty="0"/>
              <a:t>69</a:t>
            </a:r>
            <a:r>
              <a:rPr lang="zh-CN" altLang="en-US" dirty="0"/>
              <a:t>元</a:t>
            </a:r>
            <a:r>
              <a:rPr lang="en-US" altLang="zh-CN" dirty="0"/>
              <a:t>/</a:t>
            </a:r>
            <a:r>
              <a:rPr lang="en-US" altLang="zh-CN" dirty="0">
                <a:solidFill>
                  <a:schemeClr val="tx1"/>
                </a:solidFill>
              </a:rPr>
              <a:t>袋</a:t>
            </a:r>
            <a:endParaRPr lang="zh-CN" altLang="en-US" dirty="0"/>
          </a:p>
          <a:p>
            <a:r>
              <a:rPr lang="zh-CN" altLang="en-US" dirty="0"/>
              <a:t>直播价：</a:t>
            </a:r>
            <a:r>
              <a:rPr lang="zh-CN" altLang="en-US" dirty="0">
                <a:solidFill>
                  <a:srgbClr val="FF0000"/>
                </a:solidFill>
                <a:cs typeface="Arial" panose="020B0604020202090204" pitchFamily="34" charset="0"/>
              </a:rPr>
              <a:t>9</a:t>
            </a:r>
            <a:r>
              <a:rPr lang="en-US" altLang="zh-CN" dirty="0">
                <a:solidFill>
                  <a:srgbClr val="FF0000"/>
                </a:solidFill>
                <a:cs typeface="Arial" panose="020B0604020202090204" pitchFamily="34" charset="0"/>
              </a:rPr>
              <a:t>0</a:t>
            </a:r>
            <a:r>
              <a:rPr lang="zh-CN" altLang="en-US" dirty="0">
                <a:solidFill>
                  <a:srgbClr val="FF0000"/>
                </a:solidFill>
                <a:cs typeface="Arial" panose="020B0604020202090204" pitchFamily="34" charset="0"/>
              </a:rPr>
              <a:t>元</a:t>
            </a:r>
            <a:r>
              <a:rPr lang="en-US" altLang="zh-CN" dirty="0">
                <a:solidFill>
                  <a:srgbClr val="FF0000"/>
                </a:solidFill>
                <a:cs typeface="Arial" panose="020B0604020202090204" pitchFamily="34" charset="0"/>
              </a:rPr>
              <a:t>/两袋 240</a:t>
            </a:r>
            <a:r>
              <a:rPr lang="zh-CN" altLang="en-US" dirty="0">
                <a:solidFill>
                  <a:srgbClr val="FF0000"/>
                </a:solidFill>
                <a:cs typeface="Arial" panose="020B0604020202090204" pitchFamily="34" charset="0"/>
              </a:rPr>
              <a:t>元</a:t>
            </a:r>
            <a:r>
              <a:rPr lang="en-US" altLang="zh-CN" dirty="0">
                <a:solidFill>
                  <a:srgbClr val="FF0000"/>
                </a:solidFill>
                <a:cs typeface="Arial" panose="020B0604020202090204" pitchFamily="34" charset="0"/>
              </a:rPr>
              <a:t>/</a:t>
            </a:r>
            <a:r>
              <a:rPr lang="en-US" altLang="zh-CN" dirty="0">
                <a:solidFill>
                  <a:srgbClr val="FF0000"/>
                </a:solidFill>
                <a:cs typeface="Arial" panose="020B0604020202090204" pitchFamily="34" charset="0"/>
              </a:rPr>
              <a:t>六袋</a:t>
            </a:r>
            <a:endParaRPr lang="en-US" altLang="zh-CN" dirty="0">
              <a:solidFill>
                <a:srgbClr val="FF0000"/>
              </a:solidFill>
              <a:cs typeface="Arial" panose="020B0604020202090204" pitchFamily="34" charset="0"/>
            </a:endParaRPr>
          </a:p>
          <a:p>
            <a:r>
              <a:rPr lang="zh-CN" altLang="en-US" dirty="0"/>
              <a:t>规格：</a:t>
            </a:r>
            <a:r>
              <a:rPr lang="en-US" altLang="zh-CN" dirty="0"/>
              <a:t>7</a:t>
            </a:r>
            <a:r>
              <a:rPr lang="zh-CN" altLang="en-US" dirty="0"/>
              <a:t>片</a:t>
            </a:r>
            <a:r>
              <a:rPr lang="en-US" altLang="zh-CN" dirty="0"/>
              <a:t>/</a:t>
            </a:r>
            <a:r>
              <a:rPr lang="en-US" altLang="zh-CN" dirty="0">
                <a:solidFill>
                  <a:schemeClr val="tx1"/>
                </a:solidFill>
              </a:rPr>
              <a:t>袋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/>
          </a:p>
        </p:txBody>
      </p:sp>
      <p:pic>
        <p:nvPicPr>
          <p:cNvPr id="6" name="图片 5" descr="299a9fe19ceace80cdbfc19eb0ecd3c4"/>
          <p:cNvPicPr>
            <a:picLocks noChangeAspect="1"/>
          </p:cNvPicPr>
          <p:nvPr/>
        </p:nvPicPr>
        <p:blipFill>
          <a:blip r:embed="rId1"/>
          <a:srcRect b="17821"/>
          <a:stretch>
            <a:fillRect/>
          </a:stretch>
        </p:blipFill>
        <p:spPr>
          <a:xfrm>
            <a:off x="-6531" y="967468"/>
            <a:ext cx="3260090" cy="3702209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9646691" y="6416877"/>
            <a:ext cx="246888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/>
              <a:t>Quality first</a:t>
            </a:r>
            <a:r>
              <a:rPr lang="zh-CN" altLang="en-US"/>
              <a:t>海外旗舰店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83663" y="714103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日本人气经典断货王！！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3251835" y="1163199"/>
            <a:ext cx="8931048" cy="109341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1600">
                <a:highlight>
                  <a:srgbClr val="FFFF00"/>
                </a:highlight>
              </a:rPr>
              <a:t>专业奖项与成分认证</a:t>
            </a:r>
            <a:r>
              <a:rPr lang="en-US" altLang="zh-CN" sz="1600">
                <a:highlight>
                  <a:srgbClr val="FFFF00"/>
                </a:highlight>
              </a:rPr>
              <a:t>:</a:t>
            </a:r>
            <a:endParaRPr lang="en-US" altLang="zh-CN" sz="1600">
              <a:highlight>
                <a:srgbClr val="FFFF00"/>
              </a:highlight>
            </a:endParaRPr>
          </a:p>
          <a:p>
            <a:r>
              <a:rPr lang="en-US" altLang="zh-CN" sz="1600"/>
              <a:t>1</a:t>
            </a:r>
            <a:r>
              <a:rPr lang="zh-CN" altLang="en-US" sz="1600"/>
              <a:t>）品牌</a:t>
            </a:r>
            <a:r>
              <a:rPr lang="en-US" altLang="zh-CN" sz="1600"/>
              <a:t>quality1st</a:t>
            </a:r>
            <a:r>
              <a:rPr lang="zh-CN" altLang="en-US" sz="1600"/>
              <a:t>系列多次获日本美妆权威杂志</a:t>
            </a:r>
            <a:r>
              <a:rPr lang="en-US" altLang="zh-CN" sz="1600" b="1">
                <a:solidFill>
                  <a:srgbClr val="FF0000"/>
                </a:solidFill>
              </a:rPr>
              <a:t>《LDK the beauty》</a:t>
            </a:r>
            <a:r>
              <a:rPr lang="zh-CN" altLang="en-US" sz="1600" b="1">
                <a:solidFill>
                  <a:srgbClr val="FF0000"/>
                </a:solidFill>
              </a:rPr>
              <a:t>杂志</a:t>
            </a:r>
            <a:r>
              <a:rPr lang="en-US" altLang="zh-CN" sz="1600" b="1">
                <a:solidFill>
                  <a:srgbClr val="FF0000"/>
                </a:solidFill>
              </a:rPr>
              <a:t>A</a:t>
            </a:r>
            <a:r>
              <a:rPr lang="zh-CN" altLang="en-US" sz="1600" b="1">
                <a:solidFill>
                  <a:srgbClr val="FF0000"/>
                </a:solidFill>
              </a:rPr>
              <a:t>级推荐</a:t>
            </a:r>
            <a:r>
              <a:rPr lang="zh-CN" altLang="en-US" sz="1600">
                <a:solidFill>
                  <a:schemeClr val="tx1"/>
                </a:solidFill>
              </a:rPr>
              <a:t>和</a:t>
            </a:r>
            <a:r>
              <a:rPr lang="en-US" altLang="zh-CN" sz="1600" b="1">
                <a:solidFill>
                  <a:srgbClr val="FF0000"/>
                </a:solidFill>
              </a:rPr>
              <a:t>cosme</a:t>
            </a:r>
            <a:r>
              <a:rPr lang="zh-CN" altLang="en-US" sz="1600" b="1">
                <a:solidFill>
                  <a:srgbClr val="FF0000"/>
                </a:solidFill>
              </a:rPr>
              <a:t>大赏</a:t>
            </a:r>
            <a:r>
              <a:rPr lang="en-US" altLang="zh-CN" sz="1600" b="1">
                <a:solidFill>
                  <a:srgbClr val="FF0000"/>
                </a:solidFill>
              </a:rPr>
              <a:t>NO.1</a:t>
            </a:r>
            <a:r>
              <a:rPr lang="zh-CN" altLang="en-US" sz="1600"/>
              <a:t>；（这是日本美妆界很有分量的奖项，证明了其产品在同类中的优秀表现）</a:t>
            </a:r>
            <a:endParaRPr lang="zh-CN" altLang="en-US" sz="1600"/>
          </a:p>
          <a:p>
            <a:r>
              <a:rPr lang="en-US" altLang="zh-CN" sz="1600"/>
              <a:t>2</a:t>
            </a:r>
            <a:r>
              <a:rPr lang="zh-CN" altLang="en-US" sz="1600"/>
              <a:t>）品牌全系列片装面膜累计全球出货超</a:t>
            </a:r>
            <a:r>
              <a:rPr lang="en-US" altLang="zh-CN" sz="1600"/>
              <a:t>3</a:t>
            </a:r>
            <a:r>
              <a:rPr lang="zh-CN" altLang="en-US" sz="1600"/>
              <a:t>亿枚，跨境天猫旗舰店持续热销，线下入驻屈臣氏多年。</a:t>
            </a:r>
            <a:endParaRPr lang="zh-CN" altLang="en-US" sz="1600"/>
          </a:p>
        </p:txBody>
      </p:sp>
      <p:pic>
        <p:nvPicPr>
          <p:cNvPr id="11" name="图片 10" descr="post_object_image_39654045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300" y="3711756"/>
            <a:ext cx="1161071" cy="1134069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5421654" y="1203960"/>
            <a:ext cx="6262528" cy="305344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sz="1200"/>
              <a:t>更多了解：</a:t>
            </a:r>
            <a:r>
              <a:rPr lang="en-US" altLang="zh-CN" sz="1200"/>
              <a:t>https://fashion.tom.com/202105/4211599688.html?f_link_type</a:t>
            </a:r>
            <a:endParaRPr lang="en-US" altLang="zh-CN" sz="12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263945" y="-19571"/>
            <a:ext cx="8918876" cy="987066"/>
          </a:xfrm>
          <a:prstGeom prst="rect">
            <a:avLst/>
          </a:prstGeom>
          <a:solidFill>
            <a:schemeClr val="bg2"/>
          </a:solidFill>
        </p:spPr>
        <p:txBody>
          <a:bodyPr rtlCol="0" anchor="ctr"/>
          <a:lstStyle/>
          <a:p>
            <a:pPr algn="ctr">
              <a:lnSpc>
                <a:spcPct val="125000"/>
              </a:lnSpc>
            </a:pPr>
            <a:endParaRPr lang="zh-CN" altLang="en-US" sz="2000" dirty="0" err="1">
              <a:latin typeface="思源黑体 CN Light" panose="020B0600000000000000" pitchFamily="34" charset="-128"/>
              <a:ea typeface="思源黑体 CN Light" panose="020B0600000000000000" pitchFamily="34" charset="-128"/>
            </a:endParaRPr>
          </a:p>
        </p:txBody>
      </p:sp>
      <p:sp>
        <p:nvSpPr>
          <p:cNvPr id="3" name="TextBox 3"/>
          <p:cNvSpPr/>
          <p:nvPr/>
        </p:nvSpPr>
        <p:spPr bwMode="auto">
          <a:xfrm>
            <a:off x="-6557" y="-10475"/>
            <a:ext cx="3270502" cy="988420"/>
          </a:xfrm>
          <a:prstGeom prst="rect">
            <a:avLst/>
          </a:prstGeom>
          <a:solidFill>
            <a:schemeClr val="tx1"/>
          </a:solidFill>
        </p:spPr>
        <p:txBody>
          <a:bodyPr rtlCol="0" anchor="b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3200" b="1" i="0" u="none" strike="noStrike" cap="non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 bwMode="auto">
          <a:xfrm>
            <a:off x="3266804" y="991507"/>
            <a:ext cx="0" cy="5853792"/>
          </a:xfrm>
          <a:prstGeom prst="line">
            <a:avLst/>
          </a:prstGeom>
          <a:ln w="12700">
            <a:solidFill>
              <a:srgbClr val="A4A4A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/>
          <p:nvPr/>
        </p:nvSpPr>
        <p:spPr bwMode="auto">
          <a:xfrm>
            <a:off x="8030844" y="1356701"/>
            <a:ext cx="4097576" cy="586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15000"/>
              </a:lnSpc>
              <a:buFont typeface="+mj-ea"/>
              <a:buNone/>
            </a:pPr>
            <a:r>
              <a:rPr lang="zh-CN" alt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</a:t>
            </a: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适合肤质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屏障受损，对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衍生物过敏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r>
              <a:rPr lang="zh-CN" altLang="en-US" sz="14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注意事项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官方建议上脸使用</a:t>
            </a: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分钟，效果更佳</a:t>
            </a:r>
            <a:endParaRPr lang="zh-CN" altLang="en-US" sz="1400" b="1" i="0" u="none" strike="noStrike" cap="none" spc="0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/>
          <p:nvPr/>
        </p:nvSpPr>
        <p:spPr bwMode="auto">
          <a:xfrm>
            <a:off x="3554729" y="1224241"/>
            <a:ext cx="4476115" cy="833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用户痛点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sz="1400" dirty="0">
              <a:solidFill>
                <a:srgbClr val="0D0015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顽固黑头粉刺，毛孔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凹陷</a:t>
            </a:r>
            <a:endParaRPr lang="zh-CN" altLang="en-US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肤色暗沉粗糙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/>
          <p:nvPr/>
        </p:nvSpPr>
        <p:spPr bwMode="auto">
          <a:xfrm>
            <a:off x="3554730" y="2057944"/>
            <a:ext cx="8663305" cy="2094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核心科技</a:t>
            </a:r>
            <a:r>
              <a:rPr lang="en-US" altLang="zh-CN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大进阶专利技术，全方位升级旧款</a:t>
            </a:r>
            <a:r>
              <a:rPr lang="en-US" altLang="zh-CN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VC </a:t>
            </a:r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白膜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【5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重复合黑色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VC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净孔技术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种活性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VC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协同抗氧，钻入毛孔溶解油污老废角质，促胶原嘭弹、抵御紫外线损伤，旧款仅表层提亮无清洁力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加厚高密度活性炭厚切膜布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强吸附力吸走毛孔污垢，高储精华、贴面不移位，密闭缓释精华沉浸式护肤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【10%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高纯烟酰胺平衡体系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调节皮脂分泌、均衡水油，加速角质代谢，修护屏障，抚平粗糙纹理，淡化肤色斑驳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-129812" y="59917"/>
            <a:ext cx="3516902" cy="8280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rtlCol="0" fromWordArt="0" anchor="t" anchorCtr="0" forceAA="0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皇后的秘密黑钻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VC100 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细毛孔面膜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9"/>
          <p:cNvSpPr/>
          <p:nvPr/>
        </p:nvSpPr>
        <p:spPr bwMode="auto">
          <a:xfrm>
            <a:off x="3289300" y="252730"/>
            <a:ext cx="904113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5 重活性 </a:t>
            </a:r>
            <a:r>
              <a:rPr lang="en-US" altLang="zh-CN" sz="2200" b="1" spc="-20" dirty="0">
                <a:latin typeface="微软雅黑" panose="020B0503020204020204" charset="-122"/>
                <a:cs typeface="微软雅黑" panose="020B0503020204020204" charset="-122"/>
              </a:rPr>
              <a:t>VC + </a:t>
            </a: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高压微粒子渗透，厚切黑膜深度净孔，进阶修护粗糙暗沉</a:t>
            </a:r>
            <a:endParaRPr lang="zh-CN" altLang="en-US" sz="2200" b="1" spc="-2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54730" y="3987165"/>
            <a:ext cx="8561070" cy="1948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主要成分</a:t>
            </a:r>
            <a:r>
              <a:rPr lang="zh-CN" altLang="en-US" sz="1400" b="1" spc="-25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汇聚毛孔焕白修护全能成分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专研复配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【5 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种复合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 VC】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提亮抑黑、促胶原、抵御光损伤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10%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烟酰胺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修护屏障、调节水油、平滑肌理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神经酰胺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强效锁水、强韧屏障，改善暗沉干瘪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黄柏树皮提取物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草本舒缓镇静，清除自由基，促进胶原新生，修护泛红刺激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柠檬果皮油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提亮去黄，加速角质与细胞代谢，调理过剩油脂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薰衣草油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收敛粗大毛孔，深层洁净毛孔污垢，维稳平衡肌肤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54730" y="5629910"/>
            <a:ext cx="8206105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使用体验</a:t>
            </a:r>
            <a:r>
              <a:rPr lang="zh-CN" altLang="en-US" sz="1400" b="1" spc="-5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活性炭厚膜吸附护理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吸附毛孔油污，缓释亮肤修护精华，服帖不移位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五效合一护理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清洁黑头、控油收孔、匀亮褪黄、修护屏障，省去清洁面膜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多场景随心用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日常提亮、妆前打底、熬夜急救、出差便携，打造细腻哑光肌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6531" y="5629955"/>
            <a:ext cx="3822157" cy="1228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-</a:t>
            </a:r>
            <a:r>
              <a:rPr lang="zh-CN" altLang="en-US" b="1" dirty="0"/>
              <a:t>黑色升级款</a:t>
            </a:r>
            <a:endParaRPr lang="zh-CN" altLang="en-US" dirty="0"/>
          </a:p>
          <a:p>
            <a:r>
              <a:rPr lang="zh-CN" altLang="en-US" dirty="0"/>
              <a:t>日常价：89元/</a:t>
            </a:r>
            <a:r>
              <a:rPr lang="zh-CN" altLang="en-US" dirty="0">
                <a:solidFill>
                  <a:schemeClr val="tx1"/>
                </a:solidFill>
              </a:rPr>
              <a:t>袋</a:t>
            </a:r>
            <a:endParaRPr lang="zh-CN" altLang="en-US" dirty="0"/>
          </a:p>
          <a:p>
            <a:r>
              <a:rPr lang="zh-CN" altLang="en-US" dirty="0"/>
              <a:t>直播价：</a:t>
            </a:r>
            <a:r>
              <a:rPr lang="zh-CN" altLang="en-US" sz="1700" dirty="0">
                <a:solidFill>
                  <a:schemeClr val="accent6">
                    <a:lumMod val="75000"/>
                  </a:schemeClr>
                </a:solidFill>
              </a:rPr>
              <a:t>120元/两袋 330元/六</a:t>
            </a:r>
            <a:r>
              <a:rPr lang="zh-CN" altLang="en-US" sz="1700" dirty="0">
                <a:solidFill>
                  <a:schemeClr val="accent6">
                    <a:lumMod val="75000"/>
                  </a:schemeClr>
                </a:solidFill>
              </a:rPr>
              <a:t>袋 </a:t>
            </a:r>
            <a:endParaRPr lang="zh-CN" altLang="en-US" sz="17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/>
              <a:t>规格：7片/</a:t>
            </a:r>
            <a:r>
              <a:rPr lang="zh-CN" altLang="en-US" dirty="0">
                <a:solidFill>
                  <a:schemeClr val="tx1"/>
                </a:solidFill>
              </a:rPr>
              <a:t>袋</a:t>
            </a:r>
            <a:endParaRPr lang="zh-CN" altLang="en-US"/>
          </a:p>
        </p:txBody>
      </p:sp>
      <p:pic>
        <p:nvPicPr>
          <p:cNvPr id="6" name="图片 5" descr="edacfc179ca7fa540c17914c503200ab"/>
          <p:cNvPicPr>
            <a:picLocks noChangeAspect="1"/>
          </p:cNvPicPr>
          <p:nvPr/>
        </p:nvPicPr>
        <p:blipFill>
          <a:blip r:embed="rId1"/>
          <a:srcRect t="266" b="4329"/>
          <a:stretch>
            <a:fillRect/>
          </a:stretch>
        </p:blipFill>
        <p:spPr>
          <a:xfrm>
            <a:off x="-8890" y="968375"/>
            <a:ext cx="3272881" cy="46615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88286" y="6504214"/>
            <a:ext cx="7315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Quality first</a:t>
            </a:r>
            <a:r>
              <a:rPr lang="zh-CN" altLang="en-US"/>
              <a:t>海外旗舰店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198767" y="-19571"/>
            <a:ext cx="8984054" cy="987066"/>
          </a:xfrm>
          <a:prstGeom prst="rect">
            <a:avLst/>
          </a:prstGeom>
          <a:solidFill>
            <a:schemeClr val="bg2"/>
          </a:solidFill>
        </p:spPr>
        <p:txBody>
          <a:bodyPr rtlCol="0" anchor="ctr"/>
          <a:lstStyle/>
          <a:p>
            <a:pPr algn="ctr">
              <a:lnSpc>
                <a:spcPct val="125000"/>
              </a:lnSpc>
            </a:pPr>
            <a:endParaRPr lang="zh-CN" altLang="en-US" sz="2000" dirty="0" err="1">
              <a:latin typeface="思源黑体 CN Light" panose="020B0600000000000000" pitchFamily="34" charset="-128"/>
              <a:ea typeface="思源黑体 CN Light" panose="020B0600000000000000" pitchFamily="34" charset="-128"/>
            </a:endParaRPr>
          </a:p>
        </p:txBody>
      </p:sp>
      <p:sp>
        <p:nvSpPr>
          <p:cNvPr id="3" name="TextBox 3"/>
          <p:cNvSpPr/>
          <p:nvPr/>
        </p:nvSpPr>
        <p:spPr bwMode="auto">
          <a:xfrm>
            <a:off x="-6557" y="-10475"/>
            <a:ext cx="3205324" cy="977943"/>
          </a:xfrm>
          <a:prstGeom prst="rect">
            <a:avLst/>
          </a:prstGeom>
          <a:solidFill>
            <a:schemeClr val="tx1"/>
          </a:solidFill>
        </p:spPr>
        <p:txBody>
          <a:bodyPr rtlCol="0" anchor="b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3200" b="1" i="0" u="none" strike="noStrike" cap="non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 bwMode="auto">
          <a:xfrm>
            <a:off x="3212375" y="991507"/>
            <a:ext cx="0" cy="5853792"/>
          </a:xfrm>
          <a:prstGeom prst="line">
            <a:avLst/>
          </a:prstGeom>
          <a:ln w="12700">
            <a:solidFill>
              <a:srgbClr val="A4A4A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/>
          <p:nvPr/>
        </p:nvSpPr>
        <p:spPr bwMode="auto">
          <a:xfrm>
            <a:off x="8030844" y="1356701"/>
            <a:ext cx="4187146" cy="1081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</a:t>
            </a: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适合肤质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屏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障受损，对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衍生物过敏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注意事项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官方建议上脸使用</a:t>
            </a: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分钟，效果更佳</a:t>
            </a:r>
            <a:endParaRPr lang="en-US" altLang="zh-CN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15000"/>
              </a:lnSpc>
              <a:buNone/>
            </a:pPr>
            <a:endParaRPr lang="zh-CN" altLang="en-US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endParaRPr lang="zh-CN" altLang="en-US" sz="1400" b="1" i="0" u="none" strike="noStrike" cap="none" spc="0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/>
          <p:nvPr/>
        </p:nvSpPr>
        <p:spPr bwMode="auto">
          <a:xfrm>
            <a:off x="3554729" y="1224241"/>
            <a:ext cx="4476115" cy="1576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用户痛点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sz="1400" dirty="0">
              <a:solidFill>
                <a:srgbClr val="0D0015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屏障破损锁不住水，常年干痒泛红</a:t>
            </a:r>
            <a:endParaRPr lang="zh-CN" altLang="en-US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起皮紧绷，上妆卡粉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肌肤耐受力差，晒后、换季易刺痛过敏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角质缺脂，肤质粗糙干瘪无柔软感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/>
          <p:nvPr/>
        </p:nvSpPr>
        <p:spPr bwMode="auto">
          <a:xfrm>
            <a:off x="3554730" y="2580005"/>
            <a:ext cx="8663305" cy="905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核心科技</a:t>
            </a:r>
            <a:r>
              <a:rPr lang="zh-CN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1" spc="-2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>
                <a:solidFill>
                  <a:schemeClr val="tx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4种维他命C × Nano Capsule科技</a:t>
            </a:r>
            <a:endParaRPr lang="en-US" altLang="zh-CN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深渗修护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纳米脂质微囊穿透角质，填补屏障破损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长效锁水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纳米微囊触肤爆破释放养分，穿透角质直达肌底，提升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吸收力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46685" y="75565"/>
            <a:ext cx="3227705" cy="7524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rtlCol="0" fromWordArt="0" anchor="t" anchorCtr="0" forceAA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皇后的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秘密神经酰胺保湿修护面膜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9"/>
          <p:cNvSpPr/>
          <p:nvPr/>
        </p:nvSpPr>
        <p:spPr bwMode="auto">
          <a:xfrm>
            <a:off x="3554730" y="252680"/>
            <a:ext cx="8637270" cy="4298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高浓神经酰胺纳米包裹，深层修护屏障，长效锁水缓解干燥敏感</a:t>
            </a:r>
            <a:endParaRPr lang="zh-CN" altLang="en-US" sz="2200" b="1" spc="-2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54729" y="3596397"/>
            <a:ext cx="85610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主要成分</a:t>
            </a:r>
            <a:r>
              <a:rPr lang="zh-CN" altLang="en-US" sz="1400" b="1" spc="-25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1" dirty="0">
                <a:latin typeface="微软雅黑" panose="020B0503020204020204" charset="-122"/>
                <a:cs typeface="微软雅黑" panose="020B0503020204020204" charset="-122"/>
              </a:rPr>
              <a:t>汇聚核心焕亮成分</a:t>
            </a:r>
            <a:r>
              <a:rPr lang="en-US" altLang="zh-CN" sz="1400" b="1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 dirty="0">
                <a:latin typeface="微软雅黑" panose="020B0503020204020204" charset="-122"/>
                <a:cs typeface="微软雅黑" panose="020B0503020204020204" charset="-122"/>
              </a:rPr>
              <a:t>专研复配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神经酰胺复合物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补齐角质脂质，重建屏障，长效锁水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植物鞘氨醇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温和提升锁水力，敏感肌长期维稳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脑苷脂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牢牢锁住角质水分，适配重度受损敏弱肌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烟酰胺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增强肌肤耐刺激力，辅助强韧保湿屏障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黄柏树皮提取物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快速褪红，缓解刺痛、晒后过敏不适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54730" y="5220335"/>
            <a:ext cx="8319135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使用体验</a:t>
            </a:r>
            <a:r>
              <a:rPr lang="zh-CN" altLang="en-US" sz="1400" b="1" spc="-5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轻薄高贴合膜布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膜布轻薄透气，精华足量不滴落，上脸温润不闷肤，敷完无需水洗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单片院线级屏障护理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单片定量封存全套脂质修护成分，急救缓解干敏紧绷；坚持使用增厚角质层，</a:t>
            </a:r>
            <a:r>
              <a:rPr lang="en-US" altLang="zh-CN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                                    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降低肌肤敏感频率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多场景随心用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日常通勤、熬夜暗沉急救、出差旅行都适配，随时提亮细腻毛孔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8890" y="5450205"/>
            <a:ext cx="3384550" cy="1368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1">
                    <a:lumMod val="60000"/>
                    <a:lumOff val="40000"/>
                  </a:schemeClr>
                </a:solidFill>
                <a:cs typeface="Arial" panose="020B0604020202090204" pitchFamily="34" charset="0"/>
              </a:rPr>
              <a:t>浅</a:t>
            </a:r>
            <a:r>
              <a:rPr lang="zh-CN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蓝款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zh-CN" altLang="en-US" dirty="0"/>
              <a:t>日常价：69元/</a:t>
            </a:r>
            <a:r>
              <a:rPr lang="zh-CN" altLang="en-US" dirty="0">
                <a:solidFill>
                  <a:schemeClr val="tx1"/>
                </a:solidFill>
              </a:rPr>
              <a:t>袋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直播价：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90元/两袋 240元/六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袋  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/>
              <a:t>规格：7片/</a:t>
            </a:r>
            <a:r>
              <a:rPr lang="zh-CN" altLang="en-US" dirty="0">
                <a:solidFill>
                  <a:schemeClr val="tx1"/>
                </a:solidFill>
              </a:rPr>
              <a:t>袋</a:t>
            </a:r>
            <a:endParaRPr lang="zh-CN" altLang="en-US"/>
          </a:p>
        </p:txBody>
      </p:sp>
      <p:pic>
        <p:nvPicPr>
          <p:cNvPr id="8" name="图片 7" descr="7c9a13cdb7d53670081ef2f14b0f8e13"/>
          <p:cNvPicPr>
            <a:picLocks noChangeAspect="1"/>
          </p:cNvPicPr>
          <p:nvPr/>
        </p:nvPicPr>
        <p:blipFill>
          <a:blip r:embed="rId1"/>
          <a:srcRect t="4396" b="11840"/>
          <a:stretch>
            <a:fillRect/>
          </a:stretch>
        </p:blipFill>
        <p:spPr>
          <a:xfrm>
            <a:off x="-8890" y="969010"/>
            <a:ext cx="3207657" cy="448120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20250" y="6388690"/>
            <a:ext cx="7315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Quality first</a:t>
            </a:r>
            <a:r>
              <a:rPr lang="zh-CN" altLang="en-US"/>
              <a:t>海外旗舰店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198767" y="-19571"/>
            <a:ext cx="8984054" cy="987066"/>
          </a:xfrm>
          <a:prstGeom prst="rect">
            <a:avLst/>
          </a:prstGeom>
          <a:solidFill>
            <a:schemeClr val="bg2"/>
          </a:solidFill>
        </p:spPr>
        <p:txBody>
          <a:bodyPr rtlCol="0" anchor="ctr"/>
          <a:lstStyle/>
          <a:p>
            <a:pPr algn="ctr">
              <a:lnSpc>
                <a:spcPct val="125000"/>
              </a:lnSpc>
            </a:pPr>
            <a:endParaRPr lang="zh-CN" altLang="en-US" sz="2000" dirty="0" err="1">
              <a:latin typeface="思源黑体 CN Light" panose="020B0600000000000000" pitchFamily="34" charset="-128"/>
              <a:ea typeface="思源黑体 CN Light" panose="020B0600000000000000" pitchFamily="34" charset="-128"/>
            </a:endParaRPr>
          </a:p>
        </p:txBody>
      </p:sp>
      <p:sp>
        <p:nvSpPr>
          <p:cNvPr id="3" name="TextBox 3"/>
          <p:cNvSpPr/>
          <p:nvPr/>
        </p:nvSpPr>
        <p:spPr bwMode="auto">
          <a:xfrm>
            <a:off x="-6557" y="-10475"/>
            <a:ext cx="3205324" cy="977943"/>
          </a:xfrm>
          <a:prstGeom prst="rect">
            <a:avLst/>
          </a:prstGeom>
          <a:solidFill>
            <a:schemeClr val="tx1"/>
          </a:solidFill>
        </p:spPr>
        <p:txBody>
          <a:bodyPr rtlCol="0" anchor="b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3200" b="1" i="0" u="none" strike="noStrike" cap="non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 bwMode="auto">
          <a:xfrm>
            <a:off x="3239594" y="923471"/>
            <a:ext cx="0" cy="5949042"/>
          </a:xfrm>
          <a:prstGeom prst="line">
            <a:avLst/>
          </a:prstGeom>
          <a:ln w="12700">
            <a:solidFill>
              <a:srgbClr val="A4A4A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/>
          <p:nvPr/>
        </p:nvSpPr>
        <p:spPr bwMode="auto">
          <a:xfrm>
            <a:off x="8030844" y="1356701"/>
            <a:ext cx="4435476" cy="1081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15000"/>
              </a:lnSpc>
              <a:buFont typeface="+mj-ea"/>
              <a:buNone/>
            </a:pPr>
            <a:r>
              <a:rPr lang="zh-CN" alt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</a:t>
            </a: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适合肤质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屏障受损，对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衍生物过敏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r>
              <a:rPr lang="zh-CN" altLang="en-US" sz="14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注意事项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官方建议上脸使用</a:t>
            </a: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分钟，效果更佳</a:t>
            </a:r>
            <a:endParaRPr lang="en-US" altLang="zh-CN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endParaRPr lang="en-US" altLang="zh-CN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endParaRPr lang="en-US" altLang="zh-CN" sz="1400" b="1" i="0" u="none" strike="noStrike" cap="none" spc="0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/>
          <p:nvPr/>
        </p:nvSpPr>
        <p:spPr bwMode="auto">
          <a:xfrm>
            <a:off x="3554729" y="1224241"/>
            <a:ext cx="4476115" cy="1081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用户痛点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sz="1400" dirty="0">
              <a:solidFill>
                <a:srgbClr val="0D0015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油脂堵孔长黑头，粗糙暗沉肤色不均</a:t>
            </a:r>
            <a:endParaRPr lang="zh-CN" altLang="en-US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单美白易拔干，提亮短，肤感浑浊无哑光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普通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VC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仅提亮，无法清洁收毛孔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/>
          <p:nvPr/>
        </p:nvSpPr>
        <p:spPr bwMode="auto">
          <a:xfrm>
            <a:off x="3554729" y="2327934"/>
            <a:ext cx="8663286" cy="1328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核心科技</a:t>
            </a:r>
            <a:r>
              <a:rPr lang="zh-CN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1" spc="-2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>
                <a:solidFill>
                  <a:schemeClr val="tx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4种维他命C × Nano Capsule科技</a:t>
            </a:r>
            <a:endParaRPr lang="en-US" altLang="zh-CN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高活锁存防护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多层微囊双层包裹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4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VC+10%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高浓烟酰胺，隔绝空气氧化，活性留存远高于旧款，提亮力不衰减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分层递进渗透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双层传导结构，清洁吸附成分、亮肤修护养分分层穿透角质，吸收效率大幅超越旧款白膜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46685" y="75565"/>
            <a:ext cx="3227705" cy="7524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rtlCol="0" fromWordArt="0" anchor="t" anchorCtr="0" forceAA="0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皇后的秘密靶向焕亮细毛孔面膜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9"/>
          <p:cNvSpPr/>
          <p:nvPr/>
        </p:nvSpPr>
        <p:spPr bwMode="auto">
          <a:xfrm>
            <a:off x="3294641" y="252730"/>
            <a:ext cx="9171657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4 种 </a:t>
            </a:r>
            <a:r>
              <a:rPr lang="en-US" altLang="zh-CN" sz="2200" b="1" spc="-20" dirty="0">
                <a:latin typeface="微软雅黑" panose="020B0503020204020204" charset="-122"/>
                <a:cs typeface="微软雅黑" panose="020B0503020204020204" charset="-122"/>
              </a:rPr>
              <a:t>VC </a:t>
            </a: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搭配 10% 烟酰胺，三层复合膜布吸附油污，清洁控油细致毛孔</a:t>
            </a:r>
            <a:endParaRPr lang="zh-CN" altLang="en-US" sz="2200" b="1" spc="-2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54729" y="3596397"/>
            <a:ext cx="85610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主要成分</a:t>
            </a:r>
            <a:r>
              <a:rPr lang="zh-CN" altLang="en-US" sz="1400" b="1" spc="-25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1" dirty="0">
                <a:latin typeface="微软雅黑" panose="020B0503020204020204" charset="-122"/>
                <a:cs typeface="微软雅黑" panose="020B0503020204020204" charset="-122"/>
              </a:rPr>
              <a:t>汇聚毛孔焕白修护全能成分</a:t>
            </a:r>
            <a:r>
              <a:rPr lang="en-US" altLang="zh-CN" sz="1400" b="1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 dirty="0">
                <a:latin typeface="微软雅黑" panose="020B0503020204020204" charset="-122"/>
                <a:cs typeface="微软雅黑" panose="020B0503020204020204" charset="-122"/>
              </a:rPr>
              <a:t>专研复配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四异棕榈酰抗坏血酸酯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深入肌底抑制黑色素黄气，阻挡油脂氧化暗沉，多维提亮</a:t>
            </a:r>
            <a:endParaRPr lang="zh-CN" altLang="en-US" sz="1400" spc="-25" dirty="0">
              <a:solidFill>
                <a:srgbClr val="D092AE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氢化视黄醇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收紧松弛毛孔，刺激毛孔周边胶原再生，抚平粗糙肤质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【10% 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高浓烟酰胺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阻断表皮黑色素沉积，匀净肤色，同步强化锁水屏障</a:t>
            </a:r>
            <a:endParaRPr lang="zh-CN" altLang="en-US" sz="1400" b="1" spc="-25" dirty="0">
              <a:solidFill>
                <a:srgbClr val="D092AE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神经酰胺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舒缓褪泛红，强效锁水保湿，修护美白带来的干燥刺激</a:t>
            </a:r>
            <a:endParaRPr lang="zh-CN" altLang="en-US" sz="1400" b="1" spc="-25" dirty="0">
              <a:solidFill>
                <a:srgbClr val="D092AE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植物鞘氨醇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抓取空气中水分长效保湿，加速肌肤代谢，提升柔软光泽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54730" y="5220335"/>
            <a:ext cx="840168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使用体验</a:t>
            </a:r>
            <a:r>
              <a:rPr lang="zh-CN" altLang="en-US" sz="1400" b="1" spc="-5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三层复合黑膜革新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高密纤维吸附油脂污垢，精华承载量提升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 30%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，紧密贴面形成封闭促渗环境，敷贴不移位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一站式院线毛孔护理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清洁黑头、收敛毛孔、控油哑光、匀亮嫩肤四效合一，省去单独清洁面膜步骤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随行随享多场景适配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日常居家控油提亮、妆前平滑肤质、晒后急救褪暗沉、出差旅行便携护理，长效维持细腻哑光肌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8890" y="5674508"/>
            <a:ext cx="3303588" cy="11441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黑色</a:t>
            </a:r>
            <a:r>
              <a:rPr lang="zh-CN" altLang="en-US" dirty="0"/>
              <a:t>款</a:t>
            </a:r>
            <a:endParaRPr lang="zh-CN" altLang="en-US" dirty="0"/>
          </a:p>
          <a:p>
            <a:r>
              <a:rPr lang="zh-CN" altLang="en-US" dirty="0"/>
              <a:t>日常价：</a:t>
            </a:r>
            <a:r>
              <a:rPr lang="zh-CN" altLang="en-US" dirty="0">
                <a:solidFill>
                  <a:schemeClr val="tx1"/>
                </a:solidFill>
              </a:rPr>
              <a:t>8</a:t>
            </a:r>
            <a:r>
              <a:rPr lang="en-US" altLang="zh-CN" dirty="0">
                <a:solidFill>
                  <a:schemeClr val="tx1"/>
                </a:solidFill>
              </a:rPr>
              <a:t>9</a:t>
            </a:r>
            <a:r>
              <a:rPr lang="zh-CN" altLang="en-US" dirty="0"/>
              <a:t>元/</a:t>
            </a:r>
            <a:r>
              <a:rPr lang="zh-CN" altLang="en-US" dirty="0">
                <a:solidFill>
                  <a:schemeClr val="tx1"/>
                </a:solidFill>
              </a:rPr>
              <a:t>袋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直播价：</a:t>
            </a:r>
            <a:r>
              <a:rPr lang="zh-CN" altLang="en-US" sz="17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altLang="zh-CN" sz="1700" dirty="0">
                <a:solidFill>
                  <a:schemeClr val="accent6">
                    <a:lumMod val="75000"/>
                  </a:schemeClr>
                </a:solidFill>
              </a:rPr>
              <a:t>20</a:t>
            </a:r>
            <a:r>
              <a:rPr lang="zh-CN" altLang="en-US" sz="1700" dirty="0">
                <a:solidFill>
                  <a:schemeClr val="accent6">
                    <a:lumMod val="75000"/>
                  </a:schemeClr>
                </a:solidFill>
              </a:rPr>
              <a:t>元/两袋 3</a:t>
            </a:r>
            <a:r>
              <a:rPr lang="en-US" altLang="zh-CN" sz="1700" dirty="0">
                <a:solidFill>
                  <a:schemeClr val="accent6">
                    <a:lumMod val="75000"/>
                  </a:schemeClr>
                </a:solidFill>
              </a:rPr>
              <a:t>30</a:t>
            </a:r>
            <a:r>
              <a:rPr lang="zh-CN" altLang="en-US" sz="1700" dirty="0">
                <a:solidFill>
                  <a:schemeClr val="accent6">
                    <a:lumMod val="75000"/>
                  </a:schemeClr>
                </a:solidFill>
              </a:rPr>
              <a:t>元/六袋</a:t>
            </a:r>
            <a:r>
              <a:rPr lang="zh-CN" altLang="en-US" sz="1700" dirty="0"/>
              <a:t>  </a:t>
            </a:r>
            <a:endParaRPr lang="zh-CN" altLang="en-US" sz="1700" dirty="0"/>
          </a:p>
          <a:p>
            <a:r>
              <a:rPr lang="zh-CN" altLang="en-US" dirty="0"/>
              <a:t>规格：7片/</a:t>
            </a:r>
            <a:r>
              <a:rPr lang="zh-CN" altLang="en-US" dirty="0">
                <a:solidFill>
                  <a:schemeClr val="tx1"/>
                </a:solidFill>
              </a:rPr>
              <a:t>袋</a:t>
            </a:r>
            <a:endParaRPr lang="zh-CN" altLang="en-US"/>
          </a:p>
        </p:txBody>
      </p:sp>
      <p:pic>
        <p:nvPicPr>
          <p:cNvPr id="8" name="图片 7" descr="0fc9c9a7d76d0c7027ce5877310bcf34"/>
          <p:cNvPicPr>
            <a:picLocks noChangeAspect="1"/>
          </p:cNvPicPr>
          <p:nvPr/>
        </p:nvPicPr>
        <p:blipFill>
          <a:blip r:embed="rId1"/>
          <a:srcRect t="4365" b="9956"/>
          <a:stretch>
            <a:fillRect/>
          </a:stretch>
        </p:blipFill>
        <p:spPr>
          <a:xfrm>
            <a:off x="0" y="967740"/>
            <a:ext cx="3239589" cy="462902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80071" y="6408812"/>
            <a:ext cx="7315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Quality first</a:t>
            </a:r>
            <a:r>
              <a:rPr lang="zh-CN" altLang="en-US"/>
              <a:t>海外旗舰店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262734" y="-19571"/>
            <a:ext cx="8920087" cy="987022"/>
          </a:xfrm>
          <a:prstGeom prst="rect">
            <a:avLst/>
          </a:prstGeom>
          <a:solidFill>
            <a:schemeClr val="bg2"/>
          </a:solidFill>
        </p:spPr>
        <p:txBody>
          <a:bodyPr rtlCol="0" anchor="ctr"/>
          <a:lstStyle/>
          <a:p>
            <a:pPr algn="ctr">
              <a:lnSpc>
                <a:spcPct val="125000"/>
              </a:lnSpc>
            </a:pPr>
            <a:endParaRPr lang="zh-CN" altLang="en-US" sz="2000" dirty="0" err="1">
              <a:latin typeface="思源黑体 CN Light" panose="020B0600000000000000" pitchFamily="34" charset="-128"/>
              <a:ea typeface="思源黑体 CN Light" panose="020B0600000000000000" pitchFamily="34" charset="-128"/>
            </a:endParaRPr>
          </a:p>
        </p:txBody>
      </p:sp>
      <p:sp>
        <p:nvSpPr>
          <p:cNvPr id="3" name="TextBox 3"/>
          <p:cNvSpPr/>
          <p:nvPr/>
        </p:nvSpPr>
        <p:spPr bwMode="auto">
          <a:xfrm>
            <a:off x="-6557" y="-10475"/>
            <a:ext cx="3269291" cy="977926"/>
          </a:xfrm>
          <a:prstGeom prst="rect">
            <a:avLst/>
          </a:prstGeom>
          <a:solidFill>
            <a:schemeClr val="tx1"/>
          </a:solidFill>
        </p:spPr>
        <p:txBody>
          <a:bodyPr rtlCol="0" anchor="b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3200" b="1" i="0" u="none" strike="noStrike" cap="non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 bwMode="auto">
          <a:xfrm>
            <a:off x="3267148" y="989957"/>
            <a:ext cx="0" cy="5855342"/>
          </a:xfrm>
          <a:prstGeom prst="line">
            <a:avLst/>
          </a:prstGeom>
          <a:ln w="12700">
            <a:solidFill>
              <a:srgbClr val="A4A4A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/>
          <p:nvPr/>
        </p:nvSpPr>
        <p:spPr bwMode="auto">
          <a:xfrm>
            <a:off x="8030844" y="1356701"/>
            <a:ext cx="4097576" cy="1081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15000"/>
              </a:lnSpc>
              <a:buFont typeface="+mj-ea"/>
              <a:buNone/>
            </a:pPr>
            <a:r>
              <a:rPr lang="zh-CN" alt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</a:t>
            </a: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适合肤质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屏障受损，对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VC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衍生物过敏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r>
              <a:rPr lang="zh-CN" altLang="en-US" sz="14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注意事项</a:t>
            </a:r>
            <a:r>
              <a:rPr lang="zh-CN" altLang="en-US" sz="1400" dirty="0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官方建议上脸使用</a:t>
            </a: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分钟，效果更佳</a:t>
            </a:r>
            <a:endParaRPr lang="en-US" altLang="zh-CN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endParaRPr lang="zh-CN" altLang="en-US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endParaRPr lang="en-US" altLang="zh-CN" sz="1400" i="0" u="none" strike="noStrike" cap="non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/>
          <p:nvPr/>
        </p:nvSpPr>
        <p:spPr bwMode="auto">
          <a:xfrm>
            <a:off x="3554729" y="1224241"/>
            <a:ext cx="4476115" cy="1081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b="1" dirty="0" err="1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用户痛点</a:t>
            </a:r>
            <a:r>
              <a:rPr lang="zh-CN" sz="1400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sz="1400" dirty="0">
              <a:solidFill>
                <a:srgbClr val="0D0015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熬夜日晒脸蜡黄，痘印色斑难消</a:t>
            </a:r>
            <a:endParaRPr lang="zh-CN" altLang="en-US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肤色斑驳粗糙，暗沉无光泽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普通美白刺激、提亮转瞬反弹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/>
          <p:nvPr/>
        </p:nvSpPr>
        <p:spPr bwMode="auto">
          <a:xfrm>
            <a:off x="3554729" y="2327934"/>
            <a:ext cx="8663286" cy="1081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核心科技</a:t>
            </a:r>
            <a:r>
              <a:rPr lang="zh-CN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1" spc="-2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>
                <a:solidFill>
                  <a:schemeClr val="tx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4种维他命C × Nano Capsule科技</a:t>
            </a:r>
            <a:endParaRPr lang="en-US" altLang="zh-CN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分层渗透锁鲜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纳米微囊包裹四重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VC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活性，隔绝空气氧化，上脸逐层释放活性营养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5000"/>
              </a:lnSpc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快速导渗吸收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超细精华载体穿透表层，直达肌底瓦解黑色素，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分钟急救提亮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5000"/>
              </a:lnSpc>
              <a:buFont typeface="+mj-ea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46685" y="75565"/>
            <a:ext cx="3227705" cy="7524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rtlCol="0" fromWordArt="0" anchor="t" anchorCtr="0" forceAA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皇后的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秘密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超级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VC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烟酰胺速效焕白面膜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9"/>
          <p:cNvSpPr/>
          <p:nvPr/>
        </p:nvSpPr>
        <p:spPr bwMode="auto">
          <a:xfrm>
            <a:off x="3554730" y="252680"/>
            <a:ext cx="8637270" cy="4298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四重 </a:t>
            </a:r>
            <a:r>
              <a:rPr lang="en-US" altLang="zh-CN" sz="2200" b="1" spc="-20" dirty="0">
                <a:latin typeface="微软雅黑" panose="020B0503020204020204" charset="-122"/>
                <a:cs typeface="微软雅黑" panose="020B0503020204020204" charset="-122"/>
              </a:rPr>
              <a:t>VC </a:t>
            </a:r>
            <a:r>
              <a:rPr lang="zh-CN" altLang="en-US" sz="2200" b="1" spc="-20" dirty="0">
                <a:latin typeface="微软雅黑" panose="020B0503020204020204" charset="-122"/>
                <a:cs typeface="微软雅黑" panose="020B0503020204020204" charset="-122"/>
              </a:rPr>
              <a:t>协同美白，分层抑黑淡痘印，长效打造白皙透亮匀净肌</a:t>
            </a:r>
            <a:endParaRPr lang="zh-CN" altLang="en-US" sz="2200" b="1" spc="-2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54730" y="3143885"/>
            <a:ext cx="8561070" cy="2076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主要成分</a:t>
            </a:r>
            <a:r>
              <a:rPr lang="zh-CN" altLang="en-US" sz="1400" b="1" spc="-25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1" dirty="0">
                <a:latin typeface="微软雅黑" panose="020B0503020204020204" charset="-122"/>
                <a:cs typeface="微软雅黑" panose="020B0503020204020204" charset="-122"/>
              </a:rPr>
              <a:t>四重</a:t>
            </a:r>
            <a:r>
              <a:rPr lang="en-US" altLang="zh-CN" sz="1400" b="1" dirty="0">
                <a:latin typeface="微软雅黑" panose="020B0503020204020204" charset="-122"/>
                <a:cs typeface="微软雅黑" panose="020B0503020204020204" charset="-122"/>
              </a:rPr>
              <a:t> VC </a:t>
            </a:r>
            <a:r>
              <a:rPr lang="zh-CN" altLang="en-US" sz="1400" b="1" dirty="0">
                <a:latin typeface="微软雅黑" panose="020B0503020204020204" charset="-122"/>
                <a:cs typeface="微软雅黑" panose="020B0503020204020204" charset="-122"/>
              </a:rPr>
              <a:t>美白体系复配修护舒缓成分专研复配</a:t>
            </a:r>
            <a:endParaRPr lang="zh-CN" altLang="en-US" sz="1400" b="1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【3-O - 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乙基抗坏血酸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表层快速去黄提亮，促胶原、淡暗沉，敷完即刻水光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APPS 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浸透型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 VC】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深入肌底分解黑色素，淡化痘印、晒斑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水溶性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 VC 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诱导体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均衡肤色，降低高浓度</a:t>
            </a:r>
            <a:r>
              <a:rPr lang="en-US" altLang="zh-CN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 VC 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刺激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维他命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C】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抵御日晒氧化损伤，长效通透亮肤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烟酰胺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阻断黑色素，细腻毛孔，修护粗糙肤质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黄柏树皮提取物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舒缓美白带来的泛红，收敛毛孔、修护屏障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神经酰胺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深层补水锁水，改善干敏，强韧角质屏障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卵磷脂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抓水保湿，加速营养吸收，缓解美白刺激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54729" y="5220325"/>
            <a:ext cx="8206009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1C7231"/>
                </a:solidFill>
                <a:latin typeface="微软雅黑" panose="020B0503020204020204" charset="-122"/>
                <a:ea typeface="微软雅黑" panose="020B0503020204020204" charset="-122"/>
              </a:rPr>
              <a:t>使用体验</a:t>
            </a:r>
            <a:r>
              <a:rPr lang="zh-CN" altLang="en-US" sz="1400" b="1" spc="-5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轻薄服帖膜布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膜布贴合不滴水，上脸清爽不闷肤，敷完无需清洗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日常居家院线级美白护理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单片独立包装，精准定量活性</a:t>
            </a:r>
            <a:r>
              <a:rPr lang="en-US" altLang="zh-CN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 VC</a:t>
            </a:r>
            <a:r>
              <a:rPr lang="zh-CN" altLang="en-US" sz="1400" spc="-2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；敷后即刻提亮，坚持淡化痘印色沉</a:t>
            </a:r>
            <a:endParaRPr lang="zh-CN" altLang="en-US" sz="1400" spc="-25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99085" indent="-287020">
              <a:lnSpc>
                <a:spcPct val="100000"/>
              </a:lnSpc>
              <a:buFont typeface="Arial" panose="020B0604020202090204"/>
              <a:buChar char="•"/>
              <a:tabLst>
                <a:tab pos="299085" algn="l"/>
                <a:tab pos="299720" algn="l"/>
              </a:tabLst>
            </a:pP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便携多场景适用</a:t>
            </a:r>
            <a:r>
              <a:rPr lang="en-US" altLang="zh-CN" sz="1400" b="1" spc="-25" dirty="0">
                <a:solidFill>
                  <a:srgbClr val="D092AE"/>
                </a:solidFill>
                <a:latin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懒人日常护肤、晒后急救、出差旅行，快速改善黄气暗沉，长效维持透亮白皮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8890" y="5483747"/>
            <a:ext cx="3383325" cy="13348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-银色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款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日常价</a:t>
            </a:r>
            <a:r>
              <a:rPr lang="zh-CN" altLang="en-US" dirty="0"/>
              <a:t>：</a:t>
            </a:r>
            <a:r>
              <a:rPr lang="en-US" altLang="zh-CN" dirty="0"/>
              <a:t>69</a:t>
            </a:r>
            <a:r>
              <a:rPr lang="zh-CN" altLang="en-US" dirty="0"/>
              <a:t>元</a:t>
            </a:r>
            <a:r>
              <a:rPr lang="en-US" altLang="zh-CN" dirty="0"/>
              <a:t>/</a:t>
            </a:r>
            <a:r>
              <a:rPr lang="en-US" altLang="zh-CN" dirty="0">
                <a:solidFill>
                  <a:schemeClr val="tx1"/>
                </a:solidFill>
              </a:rPr>
              <a:t>袋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直播价：</a:t>
            </a:r>
            <a:r>
              <a:rPr lang="zh-CN" altLang="en-US" dirty="0">
                <a:solidFill>
                  <a:srgbClr val="FF0000"/>
                </a:solidFill>
              </a:rPr>
              <a:t>90元/两袋 240元/六袋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规格：7片/</a:t>
            </a:r>
            <a:r>
              <a:rPr lang="zh-CN" altLang="en-US" dirty="0">
                <a:solidFill>
                  <a:schemeClr val="tx1"/>
                </a:solidFill>
              </a:rPr>
              <a:t>袋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" name="图片 3" descr="2640be7669944f9e024208aecde6f231"/>
          <p:cNvPicPr>
            <a:picLocks noChangeAspect="1"/>
          </p:cNvPicPr>
          <p:nvPr/>
        </p:nvPicPr>
        <p:blipFill>
          <a:blip r:embed="rId1"/>
          <a:srcRect t="4351" b="12650"/>
          <a:stretch>
            <a:fillRect/>
          </a:stretch>
        </p:blipFill>
        <p:spPr>
          <a:xfrm>
            <a:off x="0" y="967740"/>
            <a:ext cx="3262718" cy="451606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579429" y="6381750"/>
            <a:ext cx="7315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Quality first</a:t>
            </a:r>
            <a:r>
              <a:rPr lang="zh-CN" altLang="en-US"/>
              <a:t>海外旗舰店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3474</Words>
  <Application>WPS 表格</Application>
  <PresentationFormat>宽屏</PresentationFormat>
  <Paragraphs>218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Noto Sans SC</vt:lpstr>
      <vt:lpstr>Thonburi</vt:lpstr>
      <vt:lpstr>微软雅黑</vt:lpstr>
      <vt:lpstr>汉仪旗黑</vt:lpstr>
      <vt:lpstr>思源黑体 CN Light</vt:lpstr>
      <vt:lpstr>Noto Sans SC</vt:lpstr>
      <vt:lpstr>Arial</vt:lpstr>
      <vt:lpstr>宋体</vt:lpstr>
      <vt:lpstr>汉仪书宋二KW</vt:lpstr>
      <vt:lpstr>Arial Unicode MS</vt:lpstr>
      <vt:lpstr>Calibri</vt:lpstr>
      <vt:lpstr>Helvetica Neue</vt:lpstr>
      <vt:lpstr>汉仪中黑KW</vt:lpstr>
      <vt:lpstr>Noto Sans SC</vt:lpstr>
      <vt:lpstr>微软雅黑</vt:lpstr>
      <vt:lpstr>思源黑体 CN Light</vt:lpstr>
      <vt:lpstr>苹方-简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caowenwen</cp:lastModifiedBy>
  <cp:revision>1</cp:revision>
  <dcterms:created xsi:type="dcterms:W3CDTF">2026-08-03T08:09:09Z</dcterms:created>
  <dcterms:modified xsi:type="dcterms:W3CDTF">2026-08-03T08:09:09Z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B7D25F5F8F81F6C6A54C706A80417758_43</vt:lpwstr>
  </property>
</Properties>
</file>